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868806f1104829" /><Relationship Type="http://schemas.openxmlformats.org/officeDocument/2006/relationships/extended-properties" Target="/docProps/app.xml" Id="Rdfb28ad1c7a74c3c" /><Relationship Type="http://schemas.openxmlformats.org/officeDocument/2006/relationships/officeDocument" Target="/ppt/presentation.xml" Id="Rcd1a586d27db4e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c357cfd5fb43e6"/>
  </p:sldMasterIdLst>
  <p:notesMasterIdLst>
    <p:notesMasterId xmlns:r="http://schemas.openxmlformats.org/officeDocument/2006/relationships" r:id="R02a616c36ba849b7"/>
  </p:notesMasterIdLst>
  <p:sldIdLst>
    <p:sldId xmlns:r="http://schemas.openxmlformats.org/officeDocument/2006/relationships" id="256" r:id="Rc741dadffaea495c"/>
    <p:sldId xmlns:r="http://schemas.openxmlformats.org/officeDocument/2006/relationships" id="257" r:id="R1b59b20a83fa42ee"/>
    <p:sldId xmlns:r="http://schemas.openxmlformats.org/officeDocument/2006/relationships" id="258" r:id="R6ec5aeeede794dfb"/>
    <p:sldId xmlns:r="http://schemas.openxmlformats.org/officeDocument/2006/relationships" id="259" r:id="R4af88d9e488e48d2"/>
    <p:sldId xmlns:r="http://schemas.openxmlformats.org/officeDocument/2006/relationships" id="260" r:id="Re79afa1a85ad4a5a"/>
    <p:sldId xmlns:r="http://schemas.openxmlformats.org/officeDocument/2006/relationships" id="261" r:id="R2534b66b5db241f6"/>
    <p:sldId xmlns:r="http://schemas.openxmlformats.org/officeDocument/2006/relationships" id="262" r:id="Rb5d24f75f8dc402c"/>
    <p:sldId xmlns:r="http://schemas.openxmlformats.org/officeDocument/2006/relationships" id="263" r:id="R843acf11db634897"/>
    <p:sldId xmlns:r="http://schemas.openxmlformats.org/officeDocument/2006/relationships" id="264" r:id="Ra95fe7b4b65642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a0a10bbcaf4efa" /><Relationship Type="http://schemas.openxmlformats.org/officeDocument/2006/relationships/slideMaster" Target="/ppt/slideMasters/slideMaster1.xml" Id="R3ac357cfd5fb43e6" /><Relationship Type="http://schemas.openxmlformats.org/officeDocument/2006/relationships/notesMaster" Target="/ppt/notesMasters/notesMaster1.xml" Id="R02a616c36ba849b7" /><Relationship Type="http://schemas.openxmlformats.org/officeDocument/2006/relationships/presProps" Target="/ppt/presProps.xml" Id="Rf24345335e814224" /><Relationship Type="http://schemas.openxmlformats.org/officeDocument/2006/relationships/tableStyles" Target="/ppt/tableStyles.xml" Id="R421da1a4e8dc4ca4" /><Relationship Type="http://schemas.openxmlformats.org/officeDocument/2006/relationships/slide" Target="/ppt/slides/slide1.xml" Id="Rc741dadffaea495c" /><Relationship Type="http://schemas.openxmlformats.org/officeDocument/2006/relationships/slide" Target="/ppt/slides/slide2.xml" Id="R1b59b20a83fa42ee" /><Relationship Type="http://schemas.openxmlformats.org/officeDocument/2006/relationships/slide" Target="/ppt/slides/slide3.xml" Id="R6ec5aeeede794dfb" /><Relationship Type="http://schemas.openxmlformats.org/officeDocument/2006/relationships/slide" Target="/ppt/slides/slide4.xml" Id="R4af88d9e488e48d2" /><Relationship Type="http://schemas.openxmlformats.org/officeDocument/2006/relationships/slide" Target="/ppt/slides/slide5.xml" Id="Re79afa1a85ad4a5a" /><Relationship Type="http://schemas.openxmlformats.org/officeDocument/2006/relationships/slide" Target="/ppt/slides/slide6.xml" Id="R2534b66b5db241f6" /><Relationship Type="http://schemas.openxmlformats.org/officeDocument/2006/relationships/slide" Target="/ppt/slides/slide7.xml" Id="Rb5d24f75f8dc402c" /><Relationship Type="http://schemas.openxmlformats.org/officeDocument/2006/relationships/slide" Target="/ppt/slides/slide8.xml" Id="R843acf11db634897" /><Relationship Type="http://schemas.openxmlformats.org/officeDocument/2006/relationships/slide" Target="/ppt/slides/slide9.xml" Id="Ra95fe7b4b65642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ef3fa81e174b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39311358964020" /><Relationship Type="http://schemas.openxmlformats.org/officeDocument/2006/relationships/notesMaster" Target="/ppt/notesMasters/notesMaster1.xml" Id="R225f7397bc2047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5a565ab2a14475" /><Relationship Type="http://schemas.openxmlformats.org/officeDocument/2006/relationships/notesMaster" Target="/ppt/notesMasters/notesMaster1.xml" Id="R9ca36470dbb844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b3abf35cf7498c" /><Relationship Type="http://schemas.openxmlformats.org/officeDocument/2006/relationships/notesMaster" Target="/ppt/notesMasters/notesMaster1.xml" Id="R746b2060648543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6edf85299b43e8" /><Relationship Type="http://schemas.openxmlformats.org/officeDocument/2006/relationships/notesMaster" Target="/ppt/notesMasters/notesMaster1.xml" Id="R47d0afd109bc4b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cc3a424f9a4994" /><Relationship Type="http://schemas.openxmlformats.org/officeDocument/2006/relationships/notesMaster" Target="/ppt/notesMasters/notesMaster1.xml" Id="R9f55b4f29c604b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24993ae9a949dc" /><Relationship Type="http://schemas.openxmlformats.org/officeDocument/2006/relationships/notesMaster" Target="/ppt/notesMasters/notesMaster1.xml" Id="R08b62b2ef82a47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013dae09ab47bf" /><Relationship Type="http://schemas.openxmlformats.org/officeDocument/2006/relationships/notesMaster" Target="/ppt/notesMasters/notesMaster1.xml" Id="Ra0f9c07ff4d948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3a7097b8bf4c09" /><Relationship Type="http://schemas.openxmlformats.org/officeDocument/2006/relationships/notesMaster" Target="/ppt/notesMasters/notesMaster1.xml" Id="Rfb5e7e55425a41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cf0b1183ce4634" /><Relationship Type="http://schemas.openxmlformats.org/officeDocument/2006/relationships/notesMaster" Target="/ppt/notesMasters/notesMaster1.xml" Id="Rea0e78da7dbd4a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329f948ea46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44e0ac0344d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c0b47ac814cc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9c3e78ecc64e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4978eeca8f4e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f588a564141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B9D13B-15C6-4665-A13C-41364E0D02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3CDA1B-03D0-4396-AF3B-923654A87F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470DF3F-27FD-4CE7-9F43-D2DD683E4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30F653-5B8A-45E2-BC37-AA540FA9B3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D97B992-3547-4F6A-8B99-D39C5260D6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40DF4C-2811-4763-9C6A-3CA14AF74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6AE4DE8-D86D-4A99-A2FF-D6C14DB42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17751A-D82C-4AA8-A1EE-E24DAA53D69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B524E2-B401-426A-910B-598EE5E70F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28ECCF-CECE-44C1-8CBF-860EE18ED0E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b1acaa2334421e" /><Relationship Type="http://schemas.openxmlformats.org/officeDocument/2006/relationships/slideLayout" Target="/ppt/slideLayouts/slideLayout1.xml" Id="R58e05961bd764edb" /><Relationship Type="http://schemas.openxmlformats.org/officeDocument/2006/relationships/slideLayout" Target="/ppt/slideLayouts/slideLayout2.xml" Id="R1596af20267d4f82" /><Relationship Type="http://schemas.openxmlformats.org/officeDocument/2006/relationships/slideLayout" Target="/ppt/slideLayouts/slideLayout3.xml" Id="R72f22975c39849fe" /><Relationship Type="http://schemas.openxmlformats.org/officeDocument/2006/relationships/slideLayout" Target="/ppt/slideLayouts/slideLayout4.xml" Id="R7af3cdc48c3a4694" /><Relationship Type="http://schemas.openxmlformats.org/officeDocument/2006/relationships/slideLayout" Target="/ppt/slideLayouts/slideLayout5.xml" Id="R03bc4299cf63466b" /><Relationship Type="http://schemas.openxmlformats.org/officeDocument/2006/relationships/slideLayout" Target="/ppt/slideLayouts/slideLayout6.xml" Id="R0dacae42ceeb4a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e05961bd764edb"/>
    <p:sldLayoutId xmlns:r="http://schemas.openxmlformats.org/officeDocument/2006/relationships" id="2147483650" r:id="R1596af20267d4f82"/>
    <p:sldLayoutId xmlns:r="http://schemas.openxmlformats.org/officeDocument/2006/relationships" id="2147483651" r:id="R72f22975c39849fe"/>
    <p:sldLayoutId xmlns:r="http://schemas.openxmlformats.org/officeDocument/2006/relationships" id="2147483652" r:id="R7af3cdc48c3a4694"/>
    <p:sldLayoutId xmlns:r="http://schemas.openxmlformats.org/officeDocument/2006/relationships" id="2147483653" r:id="R03bc4299cf63466b"/>
    <p:sldLayoutId xmlns:r="http://schemas.openxmlformats.org/officeDocument/2006/relationships" id="2147483654" r:id="R0dacae42ceeb4a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c98cf9dfa94d87" /><Relationship Type="http://schemas.openxmlformats.org/officeDocument/2006/relationships/notesSlide" Target="/ppt/notesSlides/notesSlide1.xml" Id="R8abc2a2db46e45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a71f8a2a164e64" /><Relationship Type="http://schemas.openxmlformats.org/officeDocument/2006/relationships/notesSlide" Target="/ppt/notesSlides/notesSlide2.xml" Id="R8769821fcbb144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b167b8691a41bb" /><Relationship Type="http://schemas.openxmlformats.org/officeDocument/2006/relationships/notesSlide" Target="/ppt/notesSlides/notesSlide3.xml" Id="Ra9ca805cb9704f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d2069705e4981" /><Relationship Type="http://schemas.openxmlformats.org/officeDocument/2006/relationships/notesSlide" Target="/ppt/notesSlides/notesSlide4.xml" Id="R2930802886b440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b06b5f7130490f" /><Relationship Type="http://schemas.openxmlformats.org/officeDocument/2006/relationships/notesSlide" Target="/ppt/notesSlides/notesSlide5.xml" Id="Re1f9f477b7ac46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5503a56ace4a75" /><Relationship Type="http://schemas.openxmlformats.org/officeDocument/2006/relationships/notesSlide" Target="/ppt/notesSlides/notesSlide6.xml" Id="R9391a9e6502f49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81de7372424110" /><Relationship Type="http://schemas.openxmlformats.org/officeDocument/2006/relationships/notesSlide" Target="/ppt/notesSlides/notesSlide7.xml" Id="R759250ad30984b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93847dad4456f" /><Relationship Type="http://schemas.openxmlformats.org/officeDocument/2006/relationships/notesSlide" Target="/ppt/notesSlides/notesSlide8.xml" Id="R300746512a264b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64007b00204154" /><Relationship Type="http://schemas.openxmlformats.org/officeDocument/2006/relationships/notesSlide" Target="/ppt/notesSlides/notesSlide9.xml" Id="Ra6c5e4a1854343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5360CA-F19E-4527-A8AF-EEC3A844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71D1C0"/>
                </a:solidFill>
              </a:defRPr>
            </a:defPPr>
            <a:lvl1pPr>
              <a:defRPr sz="1500" b="1">
                <a:solidFill>
                  <a:srgbClr val="71D1C0"/>
                </a:solidFill>
              </a:defRPr>
            </a:lvl1pPr>
            <a:lvl2pPr>
              <a:defRPr sz="1500" b="1">
                <a:solidFill>
                  <a:srgbClr val="71D1C0"/>
                </a:solidFill>
              </a:defRPr>
            </a:lvl2pPr>
            <a:lvl3pPr>
              <a:defRPr sz="1500" b="1">
                <a:solidFill>
                  <a:srgbClr val="71D1C0"/>
                </a:solidFill>
              </a:defRPr>
            </a:lvl3pPr>
            <a:lvl4pPr>
              <a:defRPr sz="1500" b="1">
                <a:solidFill>
                  <a:srgbClr val="71D1C0"/>
                </a:solidFill>
              </a:defRPr>
            </a:lvl4pPr>
            <a:lvl5pPr>
              <a:defRPr sz="1500" b="1">
                <a:solidFill>
                  <a:srgbClr val="71D1C0"/>
                </a:solidFill>
              </a:defRPr>
            </a:lvl5pPr>
            <a:lvl6pPr>
              <a:defRPr sz="1500" b="1">
                <a:solidFill>
                  <a:srgbClr val="71D1C0"/>
                </a:solidFill>
              </a:defRPr>
            </a:lvl6pPr>
            <a:lvl7pPr>
              <a:defRPr sz="1500" b="1">
                <a:solidFill>
                  <a:srgbClr val="71D1C0"/>
                </a:solidFill>
              </a:defRPr>
            </a:lvl7pPr>
            <a:lvl8pPr>
              <a:defRPr sz="1500" b="1">
                <a:solidFill>
                  <a:srgbClr val="71D1C0"/>
                </a:solidFill>
              </a:defRPr>
            </a:lvl8pPr>
            <a:lvl9pPr>
              <a:defRPr sz="1500" b="1">
                <a:solidFill>
                  <a:srgbClr val="71D1C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1D1C0"/>
                </a:solidFill>
              </a:defRPr>
            </a:pPr>
            <a:r>
              <a:rPr sz="1500" b="1">
                <a:solidFill>
                  <a:srgbClr val="71D1C0"/>
                </a:solidFill>
              </a:rPr>
              <a:t>PES UNIVERSITY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183F03-EF9C-4276-8D2D-201260D0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FFFFFF"/>
                </a:solidFill>
              </a:defRPr>
            </a:defPPr>
            <a:lvl1pPr>
              <a:defRPr sz="3600" b="1">
                <a:solidFill>
                  <a:srgbClr val="FFFFFF"/>
                </a:solidFill>
              </a:defRPr>
            </a:lvl1pPr>
            <a:lvl2pPr>
              <a:defRPr sz="3600" b="1">
                <a:solidFill>
                  <a:srgbClr val="FFFFFF"/>
                </a:solidFill>
              </a:defRPr>
            </a:lvl2pPr>
            <a:lvl3pPr>
              <a:defRPr sz="3600" b="1">
                <a:solidFill>
                  <a:srgbClr val="FFFFFF"/>
                </a:solidFill>
              </a:defRPr>
            </a:lvl3pPr>
            <a:lvl4pPr>
              <a:defRPr sz="3600" b="1">
                <a:solidFill>
                  <a:srgbClr val="FFFFFF"/>
                </a:solidFill>
              </a:defRPr>
            </a:lvl4pPr>
            <a:lvl5pPr>
              <a:defRPr sz="3600" b="1">
                <a:solidFill>
                  <a:srgbClr val="FFFFFF"/>
                </a:solidFill>
              </a:defRPr>
            </a:lvl5pPr>
            <a:lvl6pPr>
              <a:defRPr sz="3600" b="1">
                <a:solidFill>
                  <a:srgbClr val="FFFFFF"/>
                </a:solidFill>
              </a:defRPr>
            </a:lvl6pPr>
            <a:lvl7pPr>
              <a:defRPr sz="3600" b="1">
                <a:solidFill>
                  <a:srgbClr val="FFFFFF"/>
                </a:solidFill>
              </a:defRPr>
            </a:lvl7pPr>
            <a:lvl8pPr>
              <a:defRPr sz="3600" b="1">
                <a:solidFill>
                  <a:srgbClr val="FFFFFF"/>
                </a:solidFill>
              </a:defRPr>
            </a:lvl8pPr>
            <a:lvl9pPr>
              <a:defRPr sz="36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ML Mini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1389C-73C4-4323-9811-EB9FD5F2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FFFFFF"/>
                </a:solidFill>
              </a:defRPr>
            </a:defPPr>
            <a:lvl1pPr>
              <a:defRPr sz="2550" b="1">
                <a:solidFill>
                  <a:srgbClr val="FFFFFF"/>
                </a:solidFill>
              </a:defRPr>
            </a:lvl1pPr>
            <a:lvl2pPr>
              <a:defRPr sz="2550" b="1">
                <a:solidFill>
                  <a:srgbClr val="FFFFFF"/>
                </a:solidFill>
              </a:defRPr>
            </a:lvl2pPr>
            <a:lvl3pPr>
              <a:defRPr sz="2550" b="1">
                <a:solidFill>
                  <a:srgbClr val="FFFFFF"/>
                </a:solidFill>
              </a:defRPr>
            </a:lvl3pPr>
            <a:lvl4pPr>
              <a:defRPr sz="2550" b="1">
                <a:solidFill>
                  <a:srgbClr val="FFFFFF"/>
                </a:solidFill>
              </a:defRPr>
            </a:lvl4pPr>
            <a:lvl5pPr>
              <a:defRPr sz="2550" b="1">
                <a:solidFill>
                  <a:srgbClr val="FFFFFF"/>
                </a:solidFill>
              </a:defRPr>
            </a:lvl5pPr>
            <a:lvl6pPr>
              <a:defRPr sz="2550" b="1">
                <a:solidFill>
                  <a:srgbClr val="FFFFFF"/>
                </a:solidFill>
              </a:defRPr>
            </a:lvl6pPr>
            <a:lvl7pPr>
              <a:defRPr sz="2550" b="1">
                <a:solidFill>
                  <a:srgbClr val="FFFFFF"/>
                </a:solidFill>
              </a:defRPr>
            </a:lvl7pPr>
            <a:lvl8pPr>
              <a:defRPr sz="2550" b="1">
                <a:solidFill>
                  <a:srgbClr val="FFFFFF"/>
                </a:solidFill>
              </a:defRPr>
            </a:lvl8pPr>
            <a:lvl9pPr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Network Intrusion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E0ED9-1797-433E-8A99-467B3B2C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C6D9D9"/>
                </a:solidFill>
              </a:defRPr>
            </a:defPPr>
            <a:lvl1pPr>
              <a:defRPr sz="1725" b="0">
                <a:solidFill>
                  <a:srgbClr val="C6D9D9"/>
                </a:solidFill>
              </a:defRPr>
            </a:lvl1pPr>
            <a:lvl2pPr>
              <a:defRPr sz="1725" b="0">
                <a:solidFill>
                  <a:srgbClr val="C6D9D9"/>
                </a:solidFill>
              </a:defRPr>
            </a:lvl2pPr>
            <a:lvl3pPr>
              <a:defRPr sz="1725" b="0">
                <a:solidFill>
                  <a:srgbClr val="C6D9D9"/>
                </a:solidFill>
              </a:defRPr>
            </a:lvl3pPr>
            <a:lvl4pPr>
              <a:defRPr sz="1725" b="0">
                <a:solidFill>
                  <a:srgbClr val="C6D9D9"/>
                </a:solidFill>
              </a:defRPr>
            </a:lvl4pPr>
            <a:lvl5pPr>
              <a:defRPr sz="1725" b="0">
                <a:solidFill>
                  <a:srgbClr val="C6D9D9"/>
                </a:solidFill>
              </a:defRPr>
            </a:lvl5pPr>
            <a:lvl6pPr>
              <a:defRPr sz="1725" b="0">
                <a:solidFill>
                  <a:srgbClr val="C6D9D9"/>
                </a:solidFill>
              </a:defRPr>
            </a:lvl6pPr>
            <a:lvl7pPr>
              <a:defRPr sz="1725" b="0">
                <a:solidFill>
                  <a:srgbClr val="C6D9D9"/>
                </a:solidFill>
              </a:defRPr>
            </a:lvl7pPr>
            <a:lvl8pPr>
              <a:defRPr sz="1725" b="0">
                <a:solidFill>
                  <a:srgbClr val="C6D9D9"/>
                </a:solidFill>
              </a:defRPr>
            </a:lvl8pPr>
            <a:lvl9pPr>
              <a:defRPr sz="1725" b="0">
                <a:solidFill>
                  <a:srgbClr val="C6D9D9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6D9D9"/>
                </a:solidFill>
              </a:defRPr>
            </a:pPr>
            <a:r>
              <a:rPr sz="1725" b="0">
                <a:solidFill>
                  <a:srgbClr val="C6D9D9"/>
                </a:solidFill>
              </a:rPr>
              <a:t>Comparing neural networks and gradient boosting on NSL-KDD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02D4F-8659-448F-9F3D-8F7B9F28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542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Akash Kiran Vernekar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2B3B0-FFAA-4252-931D-21D4F158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C6D9D9"/>
                </a:solidFill>
              </a:defRPr>
            </a:defPPr>
            <a:lvl1pPr>
              <a:defRPr sz="1500" b="0">
                <a:solidFill>
                  <a:srgbClr val="C6D9D9"/>
                </a:solidFill>
              </a:defRPr>
            </a:lvl1pPr>
            <a:lvl2pPr>
              <a:defRPr sz="1500" b="0">
                <a:solidFill>
                  <a:srgbClr val="C6D9D9"/>
                </a:solidFill>
              </a:defRPr>
            </a:lvl2pPr>
            <a:lvl3pPr>
              <a:defRPr sz="1500" b="0">
                <a:solidFill>
                  <a:srgbClr val="C6D9D9"/>
                </a:solidFill>
              </a:defRPr>
            </a:lvl3pPr>
            <a:lvl4pPr>
              <a:defRPr sz="1500" b="0">
                <a:solidFill>
                  <a:srgbClr val="C6D9D9"/>
                </a:solidFill>
              </a:defRPr>
            </a:lvl4pPr>
            <a:lvl5pPr>
              <a:defRPr sz="1500" b="0">
                <a:solidFill>
                  <a:srgbClr val="C6D9D9"/>
                </a:solidFill>
              </a:defRPr>
            </a:lvl5pPr>
            <a:lvl6pPr>
              <a:defRPr sz="1500" b="0">
                <a:solidFill>
                  <a:srgbClr val="C6D9D9"/>
                </a:solidFill>
              </a:defRPr>
            </a:lvl6pPr>
            <a:lvl7pPr>
              <a:defRPr sz="1500" b="0">
                <a:solidFill>
                  <a:srgbClr val="C6D9D9"/>
                </a:solidFill>
              </a:defRPr>
            </a:lvl7pPr>
            <a:lvl8pPr>
              <a:defRPr sz="1500" b="0">
                <a:solidFill>
                  <a:srgbClr val="C6D9D9"/>
                </a:solidFill>
              </a:defRPr>
            </a:lvl8pPr>
            <a:lvl9pPr>
              <a:defRPr sz="1500" b="0">
                <a:solidFill>
                  <a:srgbClr val="C6D9D9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6D9D9"/>
                </a:solidFill>
              </a:defRPr>
            </a:pPr>
            <a:r>
              <a:rPr sz="1500" b="0">
                <a:solidFill>
                  <a:srgbClr val="C6D9D9"/>
                </a:solidFill>
              </a:rPr>
              <a:t>SRN: PES1UG24AM338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1A320F-E9C7-4E74-8BF5-F0290EA6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Dhanraj Rathod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7260A-24FF-48F8-84CD-F9E45BC5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C6D9D9"/>
                </a:solidFill>
              </a:defRPr>
            </a:defPPr>
            <a:lvl1pPr>
              <a:defRPr sz="1500" b="0">
                <a:solidFill>
                  <a:srgbClr val="C6D9D9"/>
                </a:solidFill>
              </a:defRPr>
            </a:lvl1pPr>
            <a:lvl2pPr>
              <a:defRPr sz="1500" b="0">
                <a:solidFill>
                  <a:srgbClr val="C6D9D9"/>
                </a:solidFill>
              </a:defRPr>
            </a:lvl2pPr>
            <a:lvl3pPr>
              <a:defRPr sz="1500" b="0">
                <a:solidFill>
                  <a:srgbClr val="C6D9D9"/>
                </a:solidFill>
              </a:defRPr>
            </a:lvl3pPr>
            <a:lvl4pPr>
              <a:defRPr sz="1500" b="0">
                <a:solidFill>
                  <a:srgbClr val="C6D9D9"/>
                </a:solidFill>
              </a:defRPr>
            </a:lvl4pPr>
            <a:lvl5pPr>
              <a:defRPr sz="1500" b="0">
                <a:solidFill>
                  <a:srgbClr val="C6D9D9"/>
                </a:solidFill>
              </a:defRPr>
            </a:lvl5pPr>
            <a:lvl6pPr>
              <a:defRPr sz="1500" b="0">
                <a:solidFill>
                  <a:srgbClr val="C6D9D9"/>
                </a:solidFill>
              </a:defRPr>
            </a:lvl6pPr>
            <a:lvl7pPr>
              <a:defRPr sz="1500" b="0">
                <a:solidFill>
                  <a:srgbClr val="C6D9D9"/>
                </a:solidFill>
              </a:defRPr>
            </a:lvl7pPr>
            <a:lvl8pPr>
              <a:defRPr sz="1500" b="0">
                <a:solidFill>
                  <a:srgbClr val="C6D9D9"/>
                </a:solidFill>
              </a:defRPr>
            </a:lvl8pPr>
            <a:lvl9pPr>
              <a:defRPr sz="1500" b="0">
                <a:solidFill>
                  <a:srgbClr val="C6D9D9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C6D9D9"/>
                </a:solidFill>
              </a:defRPr>
            </a:pPr>
            <a:r>
              <a:rPr sz="1500" b="0">
                <a:solidFill>
                  <a:srgbClr val="C6D9D9"/>
                </a:solidFill>
              </a:rPr>
              <a:t>SRN: PES1UG24AM359</a:t>
            </a:r>
          </a:p>
        </p:txBody>
      </p:sp>
    </p:spTree>
    <p:extLst>
      <p:ext uri="{BB962C8B-B14F-4D97-AF65-F5344CB8AC3E}">
        <p14:creationId xmlns:p14="http://schemas.microsoft.com/office/powerpoint/2010/main" val="7995959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83263-DA86-49B3-A75F-6EE1FDEA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07F78"/>
                </a:solidFill>
              </a:defRPr>
            </a:defPPr>
            <a:lvl1pPr>
              <a:defRPr sz="1125" b="1">
                <a:solidFill>
                  <a:srgbClr val="007F78"/>
                </a:solidFill>
              </a:defRPr>
            </a:lvl1pPr>
            <a:lvl2pPr>
              <a:defRPr sz="1125" b="1">
                <a:solidFill>
                  <a:srgbClr val="007F78"/>
                </a:solidFill>
              </a:defRPr>
            </a:lvl2pPr>
            <a:lvl3pPr>
              <a:defRPr sz="1125" b="1">
                <a:solidFill>
                  <a:srgbClr val="007F78"/>
                </a:solidFill>
              </a:defRPr>
            </a:lvl3pPr>
            <a:lvl4pPr>
              <a:defRPr sz="1125" b="1">
                <a:solidFill>
                  <a:srgbClr val="007F78"/>
                </a:solidFill>
              </a:defRPr>
            </a:lvl4pPr>
            <a:lvl5pPr>
              <a:defRPr sz="1125" b="1">
                <a:solidFill>
                  <a:srgbClr val="007F78"/>
                </a:solidFill>
              </a:defRPr>
            </a:lvl5pPr>
            <a:lvl6pPr>
              <a:defRPr sz="1125" b="1">
                <a:solidFill>
                  <a:srgbClr val="007F78"/>
                </a:solidFill>
              </a:defRPr>
            </a:lvl6pPr>
            <a:lvl7pPr>
              <a:defRPr sz="1125" b="1">
                <a:solidFill>
                  <a:srgbClr val="007F78"/>
                </a:solidFill>
              </a:defRPr>
            </a:lvl7pPr>
            <a:lvl8pPr>
              <a:defRPr sz="1125" b="1">
                <a:solidFill>
                  <a:srgbClr val="007F78"/>
                </a:solidFill>
              </a:defRPr>
            </a:lvl8pPr>
            <a:lvl9pPr>
              <a:defRPr sz="11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</a:defRPr>
            </a:pPr>
            <a:r>
              <a:rPr sz="1125" b="1">
                <a:solidFill>
                  <a:srgbClr val="007F78"/>
                </a:solidFill>
              </a:rPr>
              <a:t>01 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402BC-3778-46F5-BDFC-2D6E2C78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42A3B"/>
                </a:solidFill>
              </a:defRPr>
            </a:defPPr>
            <a:lvl1pPr>
              <a:defRPr sz="2850" b="1">
                <a:solidFill>
                  <a:srgbClr val="142A3B"/>
                </a:solidFill>
              </a:defRPr>
            </a:lvl1pPr>
            <a:lvl2pPr>
              <a:defRPr sz="2850" b="1">
                <a:solidFill>
                  <a:srgbClr val="142A3B"/>
                </a:solidFill>
              </a:defRPr>
            </a:lvl2pPr>
            <a:lvl3pPr>
              <a:defRPr sz="2850" b="1">
                <a:solidFill>
                  <a:srgbClr val="142A3B"/>
                </a:solidFill>
              </a:defRPr>
            </a:lvl3pPr>
            <a:lvl4pPr>
              <a:defRPr sz="2850" b="1">
                <a:solidFill>
                  <a:srgbClr val="142A3B"/>
                </a:solidFill>
              </a:defRPr>
            </a:lvl4pPr>
            <a:lvl5pPr>
              <a:defRPr sz="2850" b="1">
                <a:solidFill>
                  <a:srgbClr val="142A3B"/>
                </a:solidFill>
              </a:defRPr>
            </a:lvl5pPr>
            <a:lvl6pPr>
              <a:defRPr sz="2850" b="1">
                <a:solidFill>
                  <a:srgbClr val="142A3B"/>
                </a:solidFill>
              </a:defRPr>
            </a:lvl6pPr>
            <a:lvl7pPr>
              <a:defRPr sz="2850" b="1">
                <a:solidFill>
                  <a:srgbClr val="142A3B"/>
                </a:solidFill>
              </a:defRPr>
            </a:lvl7pPr>
            <a:lvl8pPr>
              <a:defRPr sz="2850" b="1">
                <a:solidFill>
                  <a:srgbClr val="142A3B"/>
                </a:solidFill>
              </a:defRPr>
            </a:lvl8pPr>
            <a:lvl9pPr>
              <a:defRPr sz="2850" b="1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A3B"/>
                </a:solidFill>
              </a:defRPr>
            </a:pPr>
            <a:r>
              <a:rPr sz="2850" b="1">
                <a:solidFill>
                  <a:srgbClr val="142A3B"/>
                </a:solidFill>
              </a:rPr>
              <a:t>Problem and project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52998-2540-4E90-8E56-F154374F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07480"/>
                </a:solidFill>
              </a:defRPr>
            </a:defPPr>
            <a:lvl1pPr>
              <a:defRPr sz="975" b="0">
                <a:solidFill>
                  <a:srgbClr val="607480"/>
                </a:solidFill>
              </a:defRPr>
            </a:lvl1pPr>
            <a:lvl2pPr>
              <a:defRPr sz="975" b="0">
                <a:solidFill>
                  <a:srgbClr val="607480"/>
                </a:solidFill>
              </a:defRPr>
            </a:lvl2pPr>
            <a:lvl3pPr>
              <a:defRPr sz="975" b="0">
                <a:solidFill>
                  <a:srgbClr val="607480"/>
                </a:solidFill>
              </a:defRPr>
            </a:lvl3pPr>
            <a:lvl4pPr>
              <a:defRPr sz="975" b="0">
                <a:solidFill>
                  <a:srgbClr val="607480"/>
                </a:solidFill>
              </a:defRPr>
            </a:lvl4pPr>
            <a:lvl5pPr>
              <a:defRPr sz="975" b="0">
                <a:solidFill>
                  <a:srgbClr val="607480"/>
                </a:solidFill>
              </a:defRPr>
            </a:lvl5pPr>
            <a:lvl6pPr>
              <a:defRPr sz="975" b="0">
                <a:solidFill>
                  <a:srgbClr val="607480"/>
                </a:solidFill>
              </a:defRPr>
            </a:lvl6pPr>
            <a:lvl7pPr>
              <a:defRPr sz="975" b="0">
                <a:solidFill>
                  <a:srgbClr val="607480"/>
                </a:solidFill>
              </a:defRPr>
            </a:lvl7pPr>
            <a:lvl8pPr>
              <a:defRPr sz="975" b="0">
                <a:solidFill>
                  <a:srgbClr val="607480"/>
                </a:solidFill>
              </a:defRPr>
            </a:lvl8pPr>
            <a:lvl9pPr>
              <a:defRPr sz="975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480"/>
                </a:solidFill>
              </a:defRPr>
            </a:pPr>
            <a:r>
              <a:rPr sz="975" b="0">
                <a:solidFill>
                  <a:srgbClr val="607480"/>
                </a:solidFill>
              </a:rPr>
              <a:t>PES University  |  Machine Learning Mini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C3B74-A64C-457A-BDEE-B8CD6638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The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95961-D9F2-48DA-ACAD-7F55328B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Network records can contain normal activity or security attacks.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77B37-DD2C-404F-93D6-8BA38B97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Attack types are imbalanced and some test attacks are unseen.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9B2D7-FF82-4BD2-B8A5-6AE1ADCD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Missing an attack and raising a false alarm both have a cost.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622B36-677F-4C6A-886E-72352C62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Project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D91D38-23EA-4673-9CD7-29C5526C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1">
                <a:solidFill>
                  <a:srgbClr val="142A3B"/>
                </a:solidFill>
              </a:defRPr>
            </a:defPPr>
            <a:lvl1pPr>
              <a:defRPr sz="1950" b="1">
                <a:solidFill>
                  <a:srgbClr val="142A3B"/>
                </a:solidFill>
              </a:defRPr>
            </a:lvl1pPr>
            <a:lvl2pPr>
              <a:defRPr sz="1950" b="1">
                <a:solidFill>
                  <a:srgbClr val="142A3B"/>
                </a:solidFill>
              </a:defRPr>
            </a:lvl2pPr>
            <a:lvl3pPr>
              <a:defRPr sz="1950" b="1">
                <a:solidFill>
                  <a:srgbClr val="142A3B"/>
                </a:solidFill>
              </a:defRPr>
            </a:lvl3pPr>
            <a:lvl4pPr>
              <a:defRPr sz="1950" b="1">
                <a:solidFill>
                  <a:srgbClr val="142A3B"/>
                </a:solidFill>
              </a:defRPr>
            </a:lvl4pPr>
            <a:lvl5pPr>
              <a:defRPr sz="1950" b="1">
                <a:solidFill>
                  <a:srgbClr val="142A3B"/>
                </a:solidFill>
              </a:defRPr>
            </a:lvl5pPr>
            <a:lvl6pPr>
              <a:defRPr sz="1950" b="1">
                <a:solidFill>
                  <a:srgbClr val="142A3B"/>
                </a:solidFill>
              </a:defRPr>
            </a:lvl6pPr>
            <a:lvl7pPr>
              <a:defRPr sz="1950" b="1">
                <a:solidFill>
                  <a:srgbClr val="142A3B"/>
                </a:solidFill>
              </a:defRPr>
            </a:lvl7pPr>
            <a:lvl8pPr>
              <a:defRPr sz="1950" b="1">
                <a:solidFill>
                  <a:srgbClr val="142A3B"/>
                </a:solidFill>
              </a:defRPr>
            </a:lvl8pPr>
            <a:lvl9pPr>
              <a:defRPr sz="1950" b="1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A3B"/>
                </a:solidFill>
              </a:defRPr>
            </a:pPr>
            <a:r>
              <a:rPr sz="1950" b="1">
                <a:solidFill>
                  <a:srgbClr val="142A3B"/>
                </a:solidFill>
              </a:rPr>
              <a:t>Compare three approaches and select a detector for normal versus attack traffic.</a:t>
            </a:r>
          </a:p>
        </p:txBody>
      </p:sp>
    </p:spTree>
    <p:extLst>
      <p:ext uri="{BB962C8B-B14F-4D97-AF65-F5344CB8AC3E}">
        <p14:creationId xmlns:p14="http://schemas.microsoft.com/office/powerpoint/2010/main" val="1264328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8E921-BEBC-4AD7-958B-03A4104B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07F78"/>
                </a:solidFill>
              </a:defRPr>
            </a:defPPr>
            <a:lvl1pPr>
              <a:defRPr sz="1125" b="1">
                <a:solidFill>
                  <a:srgbClr val="007F78"/>
                </a:solidFill>
              </a:defRPr>
            </a:lvl1pPr>
            <a:lvl2pPr>
              <a:defRPr sz="1125" b="1">
                <a:solidFill>
                  <a:srgbClr val="007F78"/>
                </a:solidFill>
              </a:defRPr>
            </a:lvl2pPr>
            <a:lvl3pPr>
              <a:defRPr sz="1125" b="1">
                <a:solidFill>
                  <a:srgbClr val="007F78"/>
                </a:solidFill>
              </a:defRPr>
            </a:lvl3pPr>
            <a:lvl4pPr>
              <a:defRPr sz="1125" b="1">
                <a:solidFill>
                  <a:srgbClr val="007F78"/>
                </a:solidFill>
              </a:defRPr>
            </a:lvl4pPr>
            <a:lvl5pPr>
              <a:defRPr sz="1125" b="1">
                <a:solidFill>
                  <a:srgbClr val="007F78"/>
                </a:solidFill>
              </a:defRPr>
            </a:lvl5pPr>
            <a:lvl6pPr>
              <a:defRPr sz="1125" b="1">
                <a:solidFill>
                  <a:srgbClr val="007F78"/>
                </a:solidFill>
              </a:defRPr>
            </a:lvl6pPr>
            <a:lvl7pPr>
              <a:defRPr sz="1125" b="1">
                <a:solidFill>
                  <a:srgbClr val="007F78"/>
                </a:solidFill>
              </a:defRPr>
            </a:lvl7pPr>
            <a:lvl8pPr>
              <a:defRPr sz="1125" b="1">
                <a:solidFill>
                  <a:srgbClr val="007F78"/>
                </a:solidFill>
              </a:defRPr>
            </a:lvl8pPr>
            <a:lvl9pPr>
              <a:defRPr sz="11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</a:defRPr>
            </a:pPr>
            <a:r>
              <a:rPr sz="1125" b="1">
                <a:solidFill>
                  <a:srgbClr val="007F78"/>
                </a:solidFill>
              </a:rPr>
              <a:t>02 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5A72E-A037-4573-942C-3C566E7B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42A3B"/>
                </a:solidFill>
              </a:defRPr>
            </a:defPPr>
            <a:lvl1pPr>
              <a:defRPr sz="2850" b="1">
                <a:solidFill>
                  <a:srgbClr val="142A3B"/>
                </a:solidFill>
              </a:defRPr>
            </a:lvl1pPr>
            <a:lvl2pPr>
              <a:defRPr sz="2850" b="1">
                <a:solidFill>
                  <a:srgbClr val="142A3B"/>
                </a:solidFill>
              </a:defRPr>
            </a:lvl2pPr>
            <a:lvl3pPr>
              <a:defRPr sz="2850" b="1">
                <a:solidFill>
                  <a:srgbClr val="142A3B"/>
                </a:solidFill>
              </a:defRPr>
            </a:lvl3pPr>
            <a:lvl4pPr>
              <a:defRPr sz="2850" b="1">
                <a:solidFill>
                  <a:srgbClr val="142A3B"/>
                </a:solidFill>
              </a:defRPr>
            </a:lvl4pPr>
            <a:lvl5pPr>
              <a:defRPr sz="2850" b="1">
                <a:solidFill>
                  <a:srgbClr val="142A3B"/>
                </a:solidFill>
              </a:defRPr>
            </a:lvl5pPr>
            <a:lvl6pPr>
              <a:defRPr sz="2850" b="1">
                <a:solidFill>
                  <a:srgbClr val="142A3B"/>
                </a:solidFill>
              </a:defRPr>
            </a:lvl6pPr>
            <a:lvl7pPr>
              <a:defRPr sz="2850" b="1">
                <a:solidFill>
                  <a:srgbClr val="142A3B"/>
                </a:solidFill>
              </a:defRPr>
            </a:lvl7pPr>
            <a:lvl8pPr>
              <a:defRPr sz="2850" b="1">
                <a:solidFill>
                  <a:srgbClr val="142A3B"/>
                </a:solidFill>
              </a:defRPr>
            </a:lvl8pPr>
            <a:lvl9pPr>
              <a:defRPr sz="2850" b="1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A3B"/>
                </a:solidFill>
              </a:defRPr>
            </a:pPr>
            <a:r>
              <a:rPr sz="2850" b="1">
                <a:solidFill>
                  <a:srgbClr val="142A3B"/>
                </a:solidFill>
              </a:rPr>
              <a:t>Dataset and feature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C2E1A9-BA3E-4A6B-A8B8-7FF567F1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07480"/>
                </a:solidFill>
              </a:defRPr>
            </a:defPPr>
            <a:lvl1pPr>
              <a:defRPr sz="975" b="0">
                <a:solidFill>
                  <a:srgbClr val="607480"/>
                </a:solidFill>
              </a:defRPr>
            </a:lvl1pPr>
            <a:lvl2pPr>
              <a:defRPr sz="975" b="0">
                <a:solidFill>
                  <a:srgbClr val="607480"/>
                </a:solidFill>
              </a:defRPr>
            </a:lvl2pPr>
            <a:lvl3pPr>
              <a:defRPr sz="975" b="0">
                <a:solidFill>
                  <a:srgbClr val="607480"/>
                </a:solidFill>
              </a:defRPr>
            </a:lvl3pPr>
            <a:lvl4pPr>
              <a:defRPr sz="975" b="0">
                <a:solidFill>
                  <a:srgbClr val="607480"/>
                </a:solidFill>
              </a:defRPr>
            </a:lvl4pPr>
            <a:lvl5pPr>
              <a:defRPr sz="975" b="0">
                <a:solidFill>
                  <a:srgbClr val="607480"/>
                </a:solidFill>
              </a:defRPr>
            </a:lvl5pPr>
            <a:lvl6pPr>
              <a:defRPr sz="975" b="0">
                <a:solidFill>
                  <a:srgbClr val="607480"/>
                </a:solidFill>
              </a:defRPr>
            </a:lvl6pPr>
            <a:lvl7pPr>
              <a:defRPr sz="975" b="0">
                <a:solidFill>
                  <a:srgbClr val="607480"/>
                </a:solidFill>
              </a:defRPr>
            </a:lvl7pPr>
            <a:lvl8pPr>
              <a:defRPr sz="975" b="0">
                <a:solidFill>
                  <a:srgbClr val="607480"/>
                </a:solidFill>
              </a:defRPr>
            </a:lvl8pPr>
            <a:lvl9pPr>
              <a:defRPr sz="975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480"/>
                </a:solidFill>
              </a:defRPr>
            </a:pPr>
            <a:r>
              <a:rPr sz="975" b="0">
                <a:solidFill>
                  <a:srgbClr val="607480"/>
                </a:solidFill>
              </a:rPr>
              <a:t>PES University  |  Machine Learning Mini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C9690-12B3-4529-A75A-C0D6ADAA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NSL-KDD records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C9005-4ACE-47EC-A325-95DB94BF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125,973 training records and 22,544 supplied test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8BA4D-14BA-4975-AC2F-21EF3C73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41 input features describe connections, content and host traffic.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4CBA2-5D71-4999-A90F-714FD7BF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Labels and the difficulty field are excluded from model inputs.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04B8A-5BE9-42AF-A6F7-4751E266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Preparing model inputs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00542-3555-44CA-97E0-96FE8DC4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Protocol, service and flag use one-hot encoding.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B780D-3317-4CAA-9F60-931F5789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The ANN standardizes numeric features; the tree model uses them directly.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FB067-A705-483E-94F0-2088BB59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Preprocessing is fitted on the training partition only.</a:t>
            </a:r>
          </a:p>
        </p:txBody>
      </p:sp>
    </p:spTree>
    <p:extLst>
      <p:ext uri="{BB962C8B-B14F-4D97-AF65-F5344CB8AC3E}">
        <p14:creationId xmlns:p14="http://schemas.microsoft.com/office/powerpoint/2010/main" val="1478283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19A5C-8009-4358-B118-2DC8A650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07F78"/>
                </a:solidFill>
              </a:defRPr>
            </a:defPPr>
            <a:lvl1pPr>
              <a:defRPr sz="1125" b="1">
                <a:solidFill>
                  <a:srgbClr val="007F78"/>
                </a:solidFill>
              </a:defRPr>
            </a:lvl1pPr>
            <a:lvl2pPr>
              <a:defRPr sz="1125" b="1">
                <a:solidFill>
                  <a:srgbClr val="007F78"/>
                </a:solidFill>
              </a:defRPr>
            </a:lvl2pPr>
            <a:lvl3pPr>
              <a:defRPr sz="1125" b="1">
                <a:solidFill>
                  <a:srgbClr val="007F78"/>
                </a:solidFill>
              </a:defRPr>
            </a:lvl3pPr>
            <a:lvl4pPr>
              <a:defRPr sz="1125" b="1">
                <a:solidFill>
                  <a:srgbClr val="007F78"/>
                </a:solidFill>
              </a:defRPr>
            </a:lvl4pPr>
            <a:lvl5pPr>
              <a:defRPr sz="1125" b="1">
                <a:solidFill>
                  <a:srgbClr val="007F78"/>
                </a:solidFill>
              </a:defRPr>
            </a:lvl5pPr>
            <a:lvl6pPr>
              <a:defRPr sz="1125" b="1">
                <a:solidFill>
                  <a:srgbClr val="007F78"/>
                </a:solidFill>
              </a:defRPr>
            </a:lvl6pPr>
            <a:lvl7pPr>
              <a:defRPr sz="1125" b="1">
                <a:solidFill>
                  <a:srgbClr val="007F78"/>
                </a:solidFill>
              </a:defRPr>
            </a:lvl7pPr>
            <a:lvl8pPr>
              <a:defRPr sz="1125" b="1">
                <a:solidFill>
                  <a:srgbClr val="007F78"/>
                </a:solidFill>
              </a:defRPr>
            </a:lvl8pPr>
            <a:lvl9pPr>
              <a:defRPr sz="11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</a:defRPr>
            </a:pPr>
            <a:r>
              <a:rPr sz="1125" b="1">
                <a:solidFill>
                  <a:srgbClr val="007F78"/>
                </a:solidFill>
              </a:rPr>
              <a:t>03 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F7077-F2E3-4BBD-8F5A-419678D2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42A3B"/>
                </a:solidFill>
              </a:defRPr>
            </a:defPPr>
            <a:lvl1pPr>
              <a:defRPr sz="2850" b="1">
                <a:solidFill>
                  <a:srgbClr val="142A3B"/>
                </a:solidFill>
              </a:defRPr>
            </a:lvl1pPr>
            <a:lvl2pPr>
              <a:defRPr sz="2850" b="1">
                <a:solidFill>
                  <a:srgbClr val="142A3B"/>
                </a:solidFill>
              </a:defRPr>
            </a:lvl2pPr>
            <a:lvl3pPr>
              <a:defRPr sz="2850" b="1">
                <a:solidFill>
                  <a:srgbClr val="142A3B"/>
                </a:solidFill>
              </a:defRPr>
            </a:lvl3pPr>
            <a:lvl4pPr>
              <a:defRPr sz="2850" b="1">
                <a:solidFill>
                  <a:srgbClr val="142A3B"/>
                </a:solidFill>
              </a:defRPr>
            </a:lvl4pPr>
            <a:lvl5pPr>
              <a:defRPr sz="2850" b="1">
                <a:solidFill>
                  <a:srgbClr val="142A3B"/>
                </a:solidFill>
              </a:defRPr>
            </a:lvl5pPr>
            <a:lvl6pPr>
              <a:defRPr sz="2850" b="1">
                <a:solidFill>
                  <a:srgbClr val="142A3B"/>
                </a:solidFill>
              </a:defRPr>
            </a:lvl6pPr>
            <a:lvl7pPr>
              <a:defRPr sz="2850" b="1">
                <a:solidFill>
                  <a:srgbClr val="142A3B"/>
                </a:solidFill>
              </a:defRPr>
            </a:lvl7pPr>
            <a:lvl8pPr>
              <a:defRPr sz="2850" b="1">
                <a:solidFill>
                  <a:srgbClr val="142A3B"/>
                </a:solidFill>
              </a:defRPr>
            </a:lvl8pPr>
            <a:lvl9pPr>
              <a:defRPr sz="2850" b="1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A3B"/>
                </a:solidFill>
              </a:defRPr>
            </a:pPr>
            <a:r>
              <a:rPr sz="2850" b="1">
                <a:solidFill>
                  <a:srgbClr val="142A3B"/>
                </a:solidFill>
              </a:rPr>
              <a:t>Training, validation and test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AF550-8042-4696-9962-51BA3458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07480"/>
                </a:solidFill>
              </a:defRPr>
            </a:defPPr>
            <a:lvl1pPr>
              <a:defRPr sz="975" b="0">
                <a:solidFill>
                  <a:srgbClr val="607480"/>
                </a:solidFill>
              </a:defRPr>
            </a:lvl1pPr>
            <a:lvl2pPr>
              <a:defRPr sz="975" b="0">
                <a:solidFill>
                  <a:srgbClr val="607480"/>
                </a:solidFill>
              </a:defRPr>
            </a:lvl2pPr>
            <a:lvl3pPr>
              <a:defRPr sz="975" b="0">
                <a:solidFill>
                  <a:srgbClr val="607480"/>
                </a:solidFill>
              </a:defRPr>
            </a:lvl3pPr>
            <a:lvl4pPr>
              <a:defRPr sz="975" b="0">
                <a:solidFill>
                  <a:srgbClr val="607480"/>
                </a:solidFill>
              </a:defRPr>
            </a:lvl4pPr>
            <a:lvl5pPr>
              <a:defRPr sz="975" b="0">
                <a:solidFill>
                  <a:srgbClr val="607480"/>
                </a:solidFill>
              </a:defRPr>
            </a:lvl5pPr>
            <a:lvl6pPr>
              <a:defRPr sz="975" b="0">
                <a:solidFill>
                  <a:srgbClr val="607480"/>
                </a:solidFill>
              </a:defRPr>
            </a:lvl6pPr>
            <a:lvl7pPr>
              <a:defRPr sz="975" b="0">
                <a:solidFill>
                  <a:srgbClr val="607480"/>
                </a:solidFill>
              </a:defRPr>
            </a:lvl7pPr>
            <a:lvl8pPr>
              <a:defRPr sz="975" b="0">
                <a:solidFill>
                  <a:srgbClr val="607480"/>
                </a:solidFill>
              </a:defRPr>
            </a:lvl8pPr>
            <a:lvl9pPr>
              <a:defRPr sz="975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480"/>
                </a:solidFill>
              </a:defRPr>
            </a:pPr>
            <a:r>
              <a:rPr sz="975" b="0">
                <a:solidFill>
                  <a:srgbClr val="607480"/>
                </a:solidFill>
              </a:rPr>
              <a:t>PES University  |  Machine Learning Mini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806A9-822B-4CFA-B360-E813BE18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007F78"/>
                </a:solidFill>
              </a:defRPr>
            </a:defPPr>
            <a:lvl1pPr>
              <a:defRPr sz="3600" b="1">
                <a:solidFill>
                  <a:srgbClr val="007F78"/>
                </a:solidFill>
              </a:defRPr>
            </a:lvl1pPr>
            <a:lvl2pPr>
              <a:defRPr sz="3600" b="1">
                <a:solidFill>
                  <a:srgbClr val="007F78"/>
                </a:solidFill>
              </a:defRPr>
            </a:lvl2pPr>
            <a:lvl3pPr>
              <a:defRPr sz="3600" b="1">
                <a:solidFill>
                  <a:srgbClr val="007F78"/>
                </a:solidFill>
              </a:defRPr>
            </a:lvl3pPr>
            <a:lvl4pPr>
              <a:defRPr sz="3600" b="1">
                <a:solidFill>
                  <a:srgbClr val="007F78"/>
                </a:solidFill>
              </a:defRPr>
            </a:lvl4pPr>
            <a:lvl5pPr>
              <a:defRPr sz="3600" b="1">
                <a:solidFill>
                  <a:srgbClr val="007F78"/>
                </a:solidFill>
              </a:defRPr>
            </a:lvl5pPr>
            <a:lvl6pPr>
              <a:defRPr sz="3600" b="1">
                <a:solidFill>
                  <a:srgbClr val="007F78"/>
                </a:solidFill>
              </a:defRPr>
            </a:lvl6pPr>
            <a:lvl7pPr>
              <a:defRPr sz="3600" b="1">
                <a:solidFill>
                  <a:srgbClr val="007F78"/>
                </a:solidFill>
              </a:defRPr>
            </a:lvl7pPr>
            <a:lvl8pPr>
              <a:defRPr sz="3600" b="1">
                <a:solidFill>
                  <a:srgbClr val="007F78"/>
                </a:solidFill>
              </a:defRPr>
            </a:lvl8pPr>
            <a:lvl9pPr>
              <a:defRPr sz="3600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07F78"/>
                </a:solidFill>
              </a:defRPr>
            </a:pPr>
            <a:r>
              <a:rPr sz="3600" b="1">
                <a:solidFill>
                  <a:srgbClr val="007F78"/>
                </a:solidFill>
              </a:rPr>
              <a:t>125,973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5DDB8-60AE-4712-BEF8-5177AE4A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607480"/>
                </a:solidFill>
              </a:defRPr>
            </a:defPPr>
            <a:lvl1pPr>
              <a:defRPr sz="1500" b="0">
                <a:solidFill>
                  <a:srgbClr val="607480"/>
                </a:solidFill>
              </a:defRPr>
            </a:lvl1pPr>
            <a:lvl2pPr>
              <a:defRPr sz="1500" b="0">
                <a:solidFill>
                  <a:srgbClr val="607480"/>
                </a:solidFill>
              </a:defRPr>
            </a:lvl2pPr>
            <a:lvl3pPr>
              <a:defRPr sz="1500" b="0">
                <a:solidFill>
                  <a:srgbClr val="607480"/>
                </a:solidFill>
              </a:defRPr>
            </a:lvl3pPr>
            <a:lvl4pPr>
              <a:defRPr sz="1500" b="0">
                <a:solidFill>
                  <a:srgbClr val="607480"/>
                </a:solidFill>
              </a:defRPr>
            </a:lvl4pPr>
            <a:lvl5pPr>
              <a:defRPr sz="1500" b="0">
                <a:solidFill>
                  <a:srgbClr val="607480"/>
                </a:solidFill>
              </a:defRPr>
            </a:lvl5pPr>
            <a:lvl6pPr>
              <a:defRPr sz="1500" b="0">
                <a:solidFill>
                  <a:srgbClr val="607480"/>
                </a:solidFill>
              </a:defRPr>
            </a:lvl6pPr>
            <a:lvl7pPr>
              <a:defRPr sz="1500" b="0">
                <a:solidFill>
                  <a:srgbClr val="607480"/>
                </a:solidFill>
              </a:defRPr>
            </a:lvl7pPr>
            <a:lvl8pPr>
              <a:defRPr sz="1500" b="0">
                <a:solidFill>
                  <a:srgbClr val="607480"/>
                </a:solidFill>
              </a:defRPr>
            </a:lvl8pPr>
            <a:lvl9pPr>
              <a:defRPr sz="1500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480"/>
                </a:solidFill>
              </a:defRPr>
            </a:pPr>
            <a:r>
              <a:rPr sz="1500" b="0">
                <a:solidFill>
                  <a:srgbClr val="607480"/>
                </a:solidFill>
              </a:rPr>
              <a:t>KDDTrain+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55321-7C90-47FC-B81C-101DFC30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954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142A3B"/>
                </a:solidFill>
              </a:defRPr>
            </a:defPPr>
            <a:lvl1pPr>
              <a:defRPr sz="3600" b="1">
                <a:solidFill>
                  <a:srgbClr val="142A3B"/>
                </a:solidFill>
              </a:defRPr>
            </a:lvl1pPr>
            <a:lvl2pPr>
              <a:defRPr sz="3600" b="1">
                <a:solidFill>
                  <a:srgbClr val="142A3B"/>
                </a:solidFill>
              </a:defRPr>
            </a:lvl2pPr>
            <a:lvl3pPr>
              <a:defRPr sz="3600" b="1">
                <a:solidFill>
                  <a:srgbClr val="142A3B"/>
                </a:solidFill>
              </a:defRPr>
            </a:lvl3pPr>
            <a:lvl4pPr>
              <a:defRPr sz="3600" b="1">
                <a:solidFill>
                  <a:srgbClr val="142A3B"/>
                </a:solidFill>
              </a:defRPr>
            </a:lvl4pPr>
            <a:lvl5pPr>
              <a:defRPr sz="3600" b="1">
                <a:solidFill>
                  <a:srgbClr val="142A3B"/>
                </a:solidFill>
              </a:defRPr>
            </a:lvl5pPr>
            <a:lvl6pPr>
              <a:defRPr sz="3600" b="1">
                <a:solidFill>
                  <a:srgbClr val="142A3B"/>
                </a:solidFill>
              </a:defRPr>
            </a:lvl6pPr>
            <a:lvl7pPr>
              <a:defRPr sz="3600" b="1">
                <a:solidFill>
                  <a:srgbClr val="142A3B"/>
                </a:solidFill>
              </a:defRPr>
            </a:lvl7pPr>
            <a:lvl8pPr>
              <a:defRPr sz="3600" b="1">
                <a:solidFill>
                  <a:srgbClr val="142A3B"/>
                </a:solidFill>
              </a:defRPr>
            </a:lvl8pPr>
            <a:lvl9pPr>
              <a:defRPr sz="3600" b="1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A3B"/>
                </a:solidFill>
              </a:defRPr>
            </a:pPr>
            <a:r>
              <a:rPr sz="3600" b="1">
                <a:solidFill>
                  <a:srgbClr val="142A3B"/>
                </a:solidFill>
              </a:rPr>
              <a:t>100,778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B58EA-D747-4718-B4BD-AA75B021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05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607480"/>
                </a:solidFill>
              </a:defRPr>
            </a:defPPr>
            <a:lvl1pPr>
              <a:defRPr sz="1500" b="0">
                <a:solidFill>
                  <a:srgbClr val="607480"/>
                </a:solidFill>
              </a:defRPr>
            </a:lvl1pPr>
            <a:lvl2pPr>
              <a:defRPr sz="1500" b="0">
                <a:solidFill>
                  <a:srgbClr val="607480"/>
                </a:solidFill>
              </a:defRPr>
            </a:lvl2pPr>
            <a:lvl3pPr>
              <a:defRPr sz="1500" b="0">
                <a:solidFill>
                  <a:srgbClr val="607480"/>
                </a:solidFill>
              </a:defRPr>
            </a:lvl3pPr>
            <a:lvl4pPr>
              <a:defRPr sz="1500" b="0">
                <a:solidFill>
                  <a:srgbClr val="607480"/>
                </a:solidFill>
              </a:defRPr>
            </a:lvl4pPr>
            <a:lvl5pPr>
              <a:defRPr sz="1500" b="0">
                <a:solidFill>
                  <a:srgbClr val="607480"/>
                </a:solidFill>
              </a:defRPr>
            </a:lvl5pPr>
            <a:lvl6pPr>
              <a:defRPr sz="1500" b="0">
                <a:solidFill>
                  <a:srgbClr val="607480"/>
                </a:solidFill>
              </a:defRPr>
            </a:lvl6pPr>
            <a:lvl7pPr>
              <a:defRPr sz="1500" b="0">
                <a:solidFill>
                  <a:srgbClr val="607480"/>
                </a:solidFill>
              </a:defRPr>
            </a:lvl7pPr>
            <a:lvl8pPr>
              <a:defRPr sz="1500" b="0">
                <a:solidFill>
                  <a:srgbClr val="607480"/>
                </a:solidFill>
              </a:defRPr>
            </a:lvl8pPr>
            <a:lvl9pPr>
              <a:defRPr sz="1500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480"/>
                </a:solidFill>
              </a:defRPr>
            </a:pPr>
            <a:r>
              <a:rPr sz="1500" b="0">
                <a:solidFill>
                  <a:srgbClr val="607480"/>
                </a:solidFill>
              </a:rPr>
              <a:t>Model training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7814D-90EE-4918-8153-74CDDF52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954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00" b="1">
                <a:solidFill>
                  <a:srgbClr val="142A3B"/>
                </a:solidFill>
              </a:defRPr>
            </a:defPPr>
            <a:lvl1pPr>
              <a:defRPr sz="3600" b="1">
                <a:solidFill>
                  <a:srgbClr val="142A3B"/>
                </a:solidFill>
              </a:defRPr>
            </a:lvl1pPr>
            <a:lvl2pPr>
              <a:defRPr sz="3600" b="1">
                <a:solidFill>
                  <a:srgbClr val="142A3B"/>
                </a:solidFill>
              </a:defRPr>
            </a:lvl2pPr>
            <a:lvl3pPr>
              <a:defRPr sz="3600" b="1">
                <a:solidFill>
                  <a:srgbClr val="142A3B"/>
                </a:solidFill>
              </a:defRPr>
            </a:lvl3pPr>
            <a:lvl4pPr>
              <a:defRPr sz="3600" b="1">
                <a:solidFill>
                  <a:srgbClr val="142A3B"/>
                </a:solidFill>
              </a:defRPr>
            </a:lvl4pPr>
            <a:lvl5pPr>
              <a:defRPr sz="3600" b="1">
                <a:solidFill>
                  <a:srgbClr val="142A3B"/>
                </a:solidFill>
              </a:defRPr>
            </a:lvl5pPr>
            <a:lvl6pPr>
              <a:defRPr sz="3600" b="1">
                <a:solidFill>
                  <a:srgbClr val="142A3B"/>
                </a:solidFill>
              </a:defRPr>
            </a:lvl6pPr>
            <a:lvl7pPr>
              <a:defRPr sz="3600" b="1">
                <a:solidFill>
                  <a:srgbClr val="142A3B"/>
                </a:solidFill>
              </a:defRPr>
            </a:lvl7pPr>
            <a:lvl8pPr>
              <a:defRPr sz="3600" b="1">
                <a:solidFill>
                  <a:srgbClr val="142A3B"/>
                </a:solidFill>
              </a:defRPr>
            </a:lvl8pPr>
            <a:lvl9pPr>
              <a:defRPr sz="3600" b="1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42A3B"/>
                </a:solidFill>
              </a:defRPr>
            </a:pPr>
            <a:r>
              <a:rPr sz="3600" b="1">
                <a:solidFill>
                  <a:srgbClr val="142A3B"/>
                </a:solidFill>
              </a:rPr>
              <a:t>25,195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065C9F-2097-4852-A340-E73013C4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607480"/>
                </a:solidFill>
              </a:defRPr>
            </a:defPPr>
            <a:lvl1pPr>
              <a:defRPr sz="1500" b="0">
                <a:solidFill>
                  <a:srgbClr val="607480"/>
                </a:solidFill>
              </a:defRPr>
            </a:lvl1pPr>
            <a:lvl2pPr>
              <a:defRPr sz="1500" b="0">
                <a:solidFill>
                  <a:srgbClr val="607480"/>
                </a:solidFill>
              </a:defRPr>
            </a:lvl2pPr>
            <a:lvl3pPr>
              <a:defRPr sz="1500" b="0">
                <a:solidFill>
                  <a:srgbClr val="607480"/>
                </a:solidFill>
              </a:defRPr>
            </a:lvl3pPr>
            <a:lvl4pPr>
              <a:defRPr sz="1500" b="0">
                <a:solidFill>
                  <a:srgbClr val="607480"/>
                </a:solidFill>
              </a:defRPr>
            </a:lvl4pPr>
            <a:lvl5pPr>
              <a:defRPr sz="1500" b="0">
                <a:solidFill>
                  <a:srgbClr val="607480"/>
                </a:solidFill>
              </a:defRPr>
            </a:lvl5pPr>
            <a:lvl6pPr>
              <a:defRPr sz="1500" b="0">
                <a:solidFill>
                  <a:srgbClr val="607480"/>
                </a:solidFill>
              </a:defRPr>
            </a:lvl6pPr>
            <a:lvl7pPr>
              <a:defRPr sz="1500" b="0">
                <a:solidFill>
                  <a:srgbClr val="607480"/>
                </a:solidFill>
              </a:defRPr>
            </a:lvl7pPr>
            <a:lvl8pPr>
              <a:defRPr sz="1500" b="0">
                <a:solidFill>
                  <a:srgbClr val="607480"/>
                </a:solidFill>
              </a:defRPr>
            </a:lvl8pPr>
            <a:lvl9pPr>
              <a:defRPr sz="1500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480"/>
                </a:solidFill>
              </a:defRPr>
            </a:pPr>
            <a:r>
              <a:rPr sz="1500" b="0">
                <a:solidFill>
                  <a:srgbClr val="607480"/>
                </a:solidFill>
              </a:rPr>
              <a:t>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36483-ACA6-421B-9E35-C8432275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42A3B"/>
                </a:solidFill>
              </a:defRPr>
            </a:defPPr>
            <a:lvl1pPr>
              <a:defRPr sz="1800" b="0">
                <a:solidFill>
                  <a:srgbClr val="142A3B"/>
                </a:solidFill>
              </a:defRPr>
            </a:lvl1pPr>
            <a:lvl2pPr>
              <a:defRPr sz="1800" b="0">
                <a:solidFill>
                  <a:srgbClr val="142A3B"/>
                </a:solidFill>
              </a:defRPr>
            </a:lvl2pPr>
            <a:lvl3pPr>
              <a:defRPr sz="1800" b="0">
                <a:solidFill>
                  <a:srgbClr val="142A3B"/>
                </a:solidFill>
              </a:defRPr>
            </a:lvl3pPr>
            <a:lvl4pPr>
              <a:defRPr sz="1800" b="0">
                <a:solidFill>
                  <a:srgbClr val="142A3B"/>
                </a:solidFill>
              </a:defRPr>
            </a:lvl4pPr>
            <a:lvl5pPr>
              <a:defRPr sz="1800" b="0">
                <a:solidFill>
                  <a:srgbClr val="142A3B"/>
                </a:solidFill>
              </a:defRPr>
            </a:lvl5pPr>
            <a:lvl6pPr>
              <a:defRPr sz="1800" b="0">
                <a:solidFill>
                  <a:srgbClr val="142A3B"/>
                </a:solidFill>
              </a:defRPr>
            </a:lvl6pPr>
            <a:lvl7pPr>
              <a:defRPr sz="1800" b="0">
                <a:solidFill>
                  <a:srgbClr val="142A3B"/>
                </a:solidFill>
              </a:defRPr>
            </a:lvl7pPr>
            <a:lvl8pPr>
              <a:defRPr sz="1800" b="0">
                <a:solidFill>
                  <a:srgbClr val="142A3B"/>
                </a:solidFill>
              </a:defRPr>
            </a:lvl8pPr>
            <a:lvl9pPr>
              <a:defRPr sz="180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A3B"/>
                </a:solidFill>
              </a:defRPr>
            </a:pPr>
            <a:r>
              <a:rPr sz="1800" b="0">
                <a:solidFill>
                  <a:srgbClr val="142A3B"/>
                </a:solidFill>
              </a:rPr>
              <a:t>Group-aware split: identical feature vectors stay together in training or validation.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FC289-9E60-488D-B4D9-7C4E5A0E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42A3B"/>
                </a:solidFill>
              </a:defRPr>
            </a:defPPr>
            <a:lvl1pPr>
              <a:defRPr sz="1800" b="0">
                <a:solidFill>
                  <a:srgbClr val="142A3B"/>
                </a:solidFill>
              </a:defRPr>
            </a:lvl1pPr>
            <a:lvl2pPr>
              <a:defRPr sz="1800" b="0">
                <a:solidFill>
                  <a:srgbClr val="142A3B"/>
                </a:solidFill>
              </a:defRPr>
            </a:lvl2pPr>
            <a:lvl3pPr>
              <a:defRPr sz="1800" b="0">
                <a:solidFill>
                  <a:srgbClr val="142A3B"/>
                </a:solidFill>
              </a:defRPr>
            </a:lvl3pPr>
            <a:lvl4pPr>
              <a:defRPr sz="1800" b="0">
                <a:solidFill>
                  <a:srgbClr val="142A3B"/>
                </a:solidFill>
              </a:defRPr>
            </a:lvl4pPr>
            <a:lvl5pPr>
              <a:defRPr sz="1800" b="0">
                <a:solidFill>
                  <a:srgbClr val="142A3B"/>
                </a:solidFill>
              </a:defRPr>
            </a:lvl5pPr>
            <a:lvl6pPr>
              <a:defRPr sz="1800" b="0">
                <a:solidFill>
                  <a:srgbClr val="142A3B"/>
                </a:solidFill>
              </a:defRPr>
            </a:lvl6pPr>
            <a:lvl7pPr>
              <a:defRPr sz="1800" b="0">
                <a:solidFill>
                  <a:srgbClr val="142A3B"/>
                </a:solidFill>
              </a:defRPr>
            </a:lvl7pPr>
            <a:lvl8pPr>
              <a:defRPr sz="1800" b="0">
                <a:solidFill>
                  <a:srgbClr val="142A3B"/>
                </a:solidFill>
              </a:defRPr>
            </a:lvl8pPr>
            <a:lvl9pPr>
              <a:defRPr sz="180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A3B"/>
                </a:solidFill>
              </a:defRPr>
            </a:pPr>
            <a:r>
              <a:rPr sz="1800" b="0">
                <a:solidFill>
                  <a:srgbClr val="142A3B"/>
                </a:solidFill>
              </a:rPr>
              <a:t>22,544 separate KDDTest+ records measure the frozen detector. The threshold targets 5% false alarms on validation only.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F1292A-4C80-4518-A245-0DE923B6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607480"/>
                </a:solidFill>
              </a:defRPr>
            </a:defPPr>
            <a:lvl1pPr>
              <a:defRPr sz="1500" b="0">
                <a:solidFill>
                  <a:srgbClr val="607480"/>
                </a:solidFill>
              </a:defRPr>
            </a:lvl1pPr>
            <a:lvl2pPr>
              <a:defRPr sz="1500" b="0">
                <a:solidFill>
                  <a:srgbClr val="607480"/>
                </a:solidFill>
              </a:defRPr>
            </a:lvl2pPr>
            <a:lvl3pPr>
              <a:defRPr sz="1500" b="0">
                <a:solidFill>
                  <a:srgbClr val="607480"/>
                </a:solidFill>
              </a:defRPr>
            </a:lvl3pPr>
            <a:lvl4pPr>
              <a:defRPr sz="1500" b="0">
                <a:solidFill>
                  <a:srgbClr val="607480"/>
                </a:solidFill>
              </a:defRPr>
            </a:lvl4pPr>
            <a:lvl5pPr>
              <a:defRPr sz="1500" b="0">
                <a:solidFill>
                  <a:srgbClr val="607480"/>
                </a:solidFill>
              </a:defRPr>
            </a:lvl5pPr>
            <a:lvl6pPr>
              <a:defRPr sz="1500" b="0">
                <a:solidFill>
                  <a:srgbClr val="607480"/>
                </a:solidFill>
              </a:defRPr>
            </a:lvl6pPr>
            <a:lvl7pPr>
              <a:defRPr sz="1500" b="0">
                <a:solidFill>
                  <a:srgbClr val="607480"/>
                </a:solidFill>
              </a:defRPr>
            </a:lvl7pPr>
            <a:lvl8pPr>
              <a:defRPr sz="1500" b="0">
                <a:solidFill>
                  <a:srgbClr val="607480"/>
                </a:solidFill>
              </a:defRPr>
            </a:lvl8pPr>
            <a:lvl9pPr>
              <a:defRPr sz="1500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07480"/>
                </a:solidFill>
              </a:defRPr>
            </a:pPr>
            <a:r>
              <a:rPr sz="1500" b="0">
                <a:solidFill>
                  <a:srgbClr val="607480"/>
                </a:solidFill>
              </a:rPr>
              <a:t>ANN experiments used the full KDDTrain+ set and did not have this validation split.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C6804-FAFF-462D-BDCE-EE0D1D6C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F78"/>
                </a:solidFill>
              </a:defRPr>
            </a:defPPr>
            <a:lvl1pPr>
              <a:defRPr sz="1350" b="1">
                <a:solidFill>
                  <a:srgbClr val="007F78"/>
                </a:solidFill>
              </a:defRPr>
            </a:lvl1pPr>
            <a:lvl2pPr>
              <a:defRPr sz="1350" b="1">
                <a:solidFill>
                  <a:srgbClr val="007F78"/>
                </a:solidFill>
              </a:defRPr>
            </a:lvl2pPr>
            <a:lvl3pPr>
              <a:defRPr sz="1350" b="1">
                <a:solidFill>
                  <a:srgbClr val="007F78"/>
                </a:solidFill>
              </a:defRPr>
            </a:lvl3pPr>
            <a:lvl4pPr>
              <a:defRPr sz="1350" b="1">
                <a:solidFill>
                  <a:srgbClr val="007F78"/>
                </a:solidFill>
              </a:defRPr>
            </a:lvl4pPr>
            <a:lvl5pPr>
              <a:defRPr sz="1350" b="1">
                <a:solidFill>
                  <a:srgbClr val="007F78"/>
                </a:solidFill>
              </a:defRPr>
            </a:lvl5pPr>
            <a:lvl6pPr>
              <a:defRPr sz="1350" b="1">
                <a:solidFill>
                  <a:srgbClr val="007F78"/>
                </a:solidFill>
              </a:defRPr>
            </a:lvl6pPr>
            <a:lvl7pPr>
              <a:defRPr sz="1350" b="1">
                <a:solidFill>
                  <a:srgbClr val="007F78"/>
                </a:solidFill>
              </a:defRPr>
            </a:lvl7pPr>
            <a:lvl8pPr>
              <a:defRPr sz="1350" b="1">
                <a:solidFill>
                  <a:srgbClr val="007F78"/>
                </a:solidFill>
              </a:defRPr>
            </a:lvl8pPr>
            <a:lvl9pPr>
              <a:defRPr sz="1350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78"/>
                </a:solidFill>
              </a:defRPr>
            </a:pPr>
            <a:r>
              <a:rPr sz="1350" b="1">
                <a:solidFill>
                  <a:srgbClr val="007F78"/>
                </a:solidFill>
              </a:rPr>
              <a:t>Test data was examined during development, so the comparison is exploratory.</a:t>
            </a:r>
          </a:p>
        </p:txBody>
      </p:sp>
    </p:spTree>
    <p:extLst>
      <p:ext uri="{BB962C8B-B14F-4D97-AF65-F5344CB8AC3E}">
        <p14:creationId xmlns:p14="http://schemas.microsoft.com/office/powerpoint/2010/main" val="1108224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3BA63-D6E4-45E4-B305-91652999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07F78"/>
                </a:solidFill>
              </a:defRPr>
            </a:defPPr>
            <a:lvl1pPr>
              <a:defRPr sz="1125" b="1">
                <a:solidFill>
                  <a:srgbClr val="007F78"/>
                </a:solidFill>
              </a:defRPr>
            </a:lvl1pPr>
            <a:lvl2pPr>
              <a:defRPr sz="1125" b="1">
                <a:solidFill>
                  <a:srgbClr val="007F78"/>
                </a:solidFill>
              </a:defRPr>
            </a:lvl2pPr>
            <a:lvl3pPr>
              <a:defRPr sz="1125" b="1">
                <a:solidFill>
                  <a:srgbClr val="007F78"/>
                </a:solidFill>
              </a:defRPr>
            </a:lvl3pPr>
            <a:lvl4pPr>
              <a:defRPr sz="1125" b="1">
                <a:solidFill>
                  <a:srgbClr val="007F78"/>
                </a:solidFill>
              </a:defRPr>
            </a:lvl4pPr>
            <a:lvl5pPr>
              <a:defRPr sz="1125" b="1">
                <a:solidFill>
                  <a:srgbClr val="007F78"/>
                </a:solidFill>
              </a:defRPr>
            </a:lvl5pPr>
            <a:lvl6pPr>
              <a:defRPr sz="1125" b="1">
                <a:solidFill>
                  <a:srgbClr val="007F78"/>
                </a:solidFill>
              </a:defRPr>
            </a:lvl6pPr>
            <a:lvl7pPr>
              <a:defRPr sz="1125" b="1">
                <a:solidFill>
                  <a:srgbClr val="007F78"/>
                </a:solidFill>
              </a:defRPr>
            </a:lvl7pPr>
            <a:lvl8pPr>
              <a:defRPr sz="1125" b="1">
                <a:solidFill>
                  <a:srgbClr val="007F78"/>
                </a:solidFill>
              </a:defRPr>
            </a:lvl8pPr>
            <a:lvl9pPr>
              <a:defRPr sz="11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</a:defRPr>
            </a:pPr>
            <a:r>
              <a:rPr sz="1125" b="1">
                <a:solidFill>
                  <a:srgbClr val="007F78"/>
                </a:solidFill>
              </a:rPr>
              <a:t>04  REFERENCE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25CA2-2942-4797-98EE-889D36BC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42A3B"/>
                </a:solidFill>
              </a:defRPr>
            </a:defPPr>
            <a:lvl1pPr>
              <a:defRPr sz="2850" b="1">
                <a:solidFill>
                  <a:srgbClr val="142A3B"/>
                </a:solidFill>
              </a:defRPr>
            </a:lvl1pPr>
            <a:lvl2pPr>
              <a:defRPr sz="2850" b="1">
                <a:solidFill>
                  <a:srgbClr val="142A3B"/>
                </a:solidFill>
              </a:defRPr>
            </a:lvl2pPr>
            <a:lvl3pPr>
              <a:defRPr sz="2850" b="1">
                <a:solidFill>
                  <a:srgbClr val="142A3B"/>
                </a:solidFill>
              </a:defRPr>
            </a:lvl3pPr>
            <a:lvl4pPr>
              <a:defRPr sz="2850" b="1">
                <a:solidFill>
                  <a:srgbClr val="142A3B"/>
                </a:solidFill>
              </a:defRPr>
            </a:lvl4pPr>
            <a:lvl5pPr>
              <a:defRPr sz="2850" b="1">
                <a:solidFill>
                  <a:srgbClr val="142A3B"/>
                </a:solidFill>
              </a:defRPr>
            </a:lvl5pPr>
            <a:lvl6pPr>
              <a:defRPr sz="2850" b="1">
                <a:solidFill>
                  <a:srgbClr val="142A3B"/>
                </a:solidFill>
              </a:defRPr>
            </a:lvl6pPr>
            <a:lvl7pPr>
              <a:defRPr sz="2850" b="1">
                <a:solidFill>
                  <a:srgbClr val="142A3B"/>
                </a:solidFill>
              </a:defRPr>
            </a:lvl7pPr>
            <a:lvl8pPr>
              <a:defRPr sz="2850" b="1">
                <a:solidFill>
                  <a:srgbClr val="142A3B"/>
                </a:solidFill>
              </a:defRPr>
            </a:lvl8pPr>
            <a:lvl9pPr>
              <a:defRPr sz="2850" b="1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A3B"/>
                </a:solidFill>
              </a:defRPr>
            </a:pPr>
            <a:r>
              <a:rPr sz="2850" b="1">
                <a:solidFill>
                  <a:srgbClr val="142A3B"/>
                </a:solidFill>
              </a:rPr>
              <a:t>Paper baseline neural network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4F5D7-5F30-46BD-8C8D-537C192E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07480"/>
                </a:solidFill>
              </a:defRPr>
            </a:defPPr>
            <a:lvl1pPr>
              <a:defRPr sz="975" b="0">
                <a:solidFill>
                  <a:srgbClr val="607480"/>
                </a:solidFill>
              </a:defRPr>
            </a:lvl1pPr>
            <a:lvl2pPr>
              <a:defRPr sz="975" b="0">
                <a:solidFill>
                  <a:srgbClr val="607480"/>
                </a:solidFill>
              </a:defRPr>
            </a:lvl2pPr>
            <a:lvl3pPr>
              <a:defRPr sz="975" b="0">
                <a:solidFill>
                  <a:srgbClr val="607480"/>
                </a:solidFill>
              </a:defRPr>
            </a:lvl3pPr>
            <a:lvl4pPr>
              <a:defRPr sz="975" b="0">
                <a:solidFill>
                  <a:srgbClr val="607480"/>
                </a:solidFill>
              </a:defRPr>
            </a:lvl4pPr>
            <a:lvl5pPr>
              <a:defRPr sz="975" b="0">
                <a:solidFill>
                  <a:srgbClr val="607480"/>
                </a:solidFill>
              </a:defRPr>
            </a:lvl5pPr>
            <a:lvl6pPr>
              <a:defRPr sz="975" b="0">
                <a:solidFill>
                  <a:srgbClr val="607480"/>
                </a:solidFill>
              </a:defRPr>
            </a:lvl6pPr>
            <a:lvl7pPr>
              <a:defRPr sz="975" b="0">
                <a:solidFill>
                  <a:srgbClr val="607480"/>
                </a:solidFill>
              </a:defRPr>
            </a:lvl7pPr>
            <a:lvl8pPr>
              <a:defRPr sz="975" b="0">
                <a:solidFill>
                  <a:srgbClr val="607480"/>
                </a:solidFill>
              </a:defRPr>
            </a:lvl8pPr>
            <a:lvl9pPr>
              <a:defRPr sz="975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480"/>
                </a:solidFill>
              </a:defRPr>
            </a:pPr>
            <a:r>
              <a:rPr sz="975" b="0">
                <a:solidFill>
                  <a:srgbClr val="607480"/>
                </a:solidFill>
              </a:rPr>
              <a:t>PES University  |  Machine Learning Mini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97E18-6FA1-4514-9355-234D9A89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Architecture and training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AAA09-592F-4900-B1FB-832398D7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122 inputs, 500 sigmoid hidden units and 24 softmax outputs.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86A82-3F6D-42CC-8F36-C6928391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Ten epochs, batch size 1,000 and learning rate 0.5.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9561F-2608-42C7-84B8-DA14DD21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The reproduction uses gradient ascent without a specified regularizer.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6BD5E-9808-4D67-9065-DCF0B820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Advantages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160E8-2379-4AAD-878B-DB6A5B75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Drawbacks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C2444-31EF-4E06-9DFC-F88E3BC3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Predicts known attack labels and provides a reference for later experiments.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2A1BD0-473E-48EF-803C-EBD0038E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Sensitive to class imbalance. The reserved unknown class has no positive training examples.</a:t>
            </a:r>
          </a:p>
        </p:txBody>
      </p:sp>
    </p:spTree>
    <p:extLst>
      <p:ext uri="{BB962C8B-B14F-4D97-AF65-F5344CB8AC3E}">
        <p14:creationId xmlns:p14="http://schemas.microsoft.com/office/powerpoint/2010/main" val="2008100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C597E-306B-479D-9F88-C5CCEBAB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07F78"/>
                </a:solidFill>
              </a:defRPr>
            </a:defPPr>
            <a:lvl1pPr>
              <a:defRPr sz="1125" b="1">
                <a:solidFill>
                  <a:srgbClr val="007F78"/>
                </a:solidFill>
              </a:defRPr>
            </a:lvl1pPr>
            <a:lvl2pPr>
              <a:defRPr sz="1125" b="1">
                <a:solidFill>
                  <a:srgbClr val="007F78"/>
                </a:solidFill>
              </a:defRPr>
            </a:lvl2pPr>
            <a:lvl3pPr>
              <a:defRPr sz="1125" b="1">
                <a:solidFill>
                  <a:srgbClr val="007F78"/>
                </a:solidFill>
              </a:defRPr>
            </a:lvl3pPr>
            <a:lvl4pPr>
              <a:defRPr sz="1125" b="1">
                <a:solidFill>
                  <a:srgbClr val="007F78"/>
                </a:solidFill>
              </a:defRPr>
            </a:lvl4pPr>
            <a:lvl5pPr>
              <a:defRPr sz="1125" b="1">
                <a:solidFill>
                  <a:srgbClr val="007F78"/>
                </a:solidFill>
              </a:defRPr>
            </a:lvl5pPr>
            <a:lvl6pPr>
              <a:defRPr sz="1125" b="1">
                <a:solidFill>
                  <a:srgbClr val="007F78"/>
                </a:solidFill>
              </a:defRPr>
            </a:lvl6pPr>
            <a:lvl7pPr>
              <a:defRPr sz="1125" b="1">
                <a:solidFill>
                  <a:srgbClr val="007F78"/>
                </a:solidFill>
              </a:defRPr>
            </a:lvl7pPr>
            <a:lvl8pPr>
              <a:defRPr sz="1125" b="1">
                <a:solidFill>
                  <a:srgbClr val="007F78"/>
                </a:solidFill>
              </a:defRPr>
            </a:lvl8pPr>
            <a:lvl9pPr>
              <a:defRPr sz="11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</a:defRPr>
            </a:pPr>
            <a:r>
              <a:rPr sz="1125" b="1">
                <a:solidFill>
                  <a:srgbClr val="007F78"/>
                </a:solidFill>
              </a:rPr>
              <a:t>05 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AE54D-910F-4A90-A9F5-A090A39C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42A3B"/>
                </a:solidFill>
              </a:defRPr>
            </a:defPPr>
            <a:lvl1pPr>
              <a:defRPr sz="2850" b="1">
                <a:solidFill>
                  <a:srgbClr val="142A3B"/>
                </a:solidFill>
              </a:defRPr>
            </a:lvl1pPr>
            <a:lvl2pPr>
              <a:defRPr sz="2850" b="1">
                <a:solidFill>
                  <a:srgbClr val="142A3B"/>
                </a:solidFill>
              </a:defRPr>
            </a:lvl2pPr>
            <a:lvl3pPr>
              <a:defRPr sz="2850" b="1">
                <a:solidFill>
                  <a:srgbClr val="142A3B"/>
                </a:solidFill>
              </a:defRPr>
            </a:lvl3pPr>
            <a:lvl4pPr>
              <a:defRPr sz="2850" b="1">
                <a:solidFill>
                  <a:srgbClr val="142A3B"/>
                </a:solidFill>
              </a:defRPr>
            </a:lvl4pPr>
            <a:lvl5pPr>
              <a:defRPr sz="2850" b="1">
                <a:solidFill>
                  <a:srgbClr val="142A3B"/>
                </a:solidFill>
              </a:defRPr>
            </a:lvl5pPr>
            <a:lvl6pPr>
              <a:defRPr sz="2850" b="1">
                <a:solidFill>
                  <a:srgbClr val="142A3B"/>
                </a:solidFill>
              </a:defRPr>
            </a:lvl6pPr>
            <a:lvl7pPr>
              <a:defRPr sz="2850" b="1">
                <a:solidFill>
                  <a:srgbClr val="142A3B"/>
                </a:solidFill>
              </a:defRPr>
            </a:lvl7pPr>
            <a:lvl8pPr>
              <a:defRPr sz="2850" b="1">
                <a:solidFill>
                  <a:srgbClr val="142A3B"/>
                </a:solidFill>
              </a:defRPr>
            </a:lvl8pPr>
            <a:lvl9pPr>
              <a:defRPr sz="2850" b="1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A3B"/>
                </a:solidFill>
              </a:defRPr>
            </a:pPr>
            <a:r>
              <a:rPr sz="2850" b="1">
                <a:solidFill>
                  <a:srgbClr val="142A3B"/>
                </a:solidFill>
              </a:rPr>
              <a:t>Why we tried a class-weighted ANN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63B54-8912-43D5-8462-AC9C919E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07480"/>
                </a:solidFill>
              </a:defRPr>
            </a:defPPr>
            <a:lvl1pPr>
              <a:defRPr sz="975" b="0">
                <a:solidFill>
                  <a:srgbClr val="607480"/>
                </a:solidFill>
              </a:defRPr>
            </a:lvl1pPr>
            <a:lvl2pPr>
              <a:defRPr sz="975" b="0">
                <a:solidFill>
                  <a:srgbClr val="607480"/>
                </a:solidFill>
              </a:defRPr>
            </a:lvl2pPr>
            <a:lvl3pPr>
              <a:defRPr sz="975" b="0">
                <a:solidFill>
                  <a:srgbClr val="607480"/>
                </a:solidFill>
              </a:defRPr>
            </a:lvl3pPr>
            <a:lvl4pPr>
              <a:defRPr sz="975" b="0">
                <a:solidFill>
                  <a:srgbClr val="607480"/>
                </a:solidFill>
              </a:defRPr>
            </a:lvl4pPr>
            <a:lvl5pPr>
              <a:defRPr sz="975" b="0">
                <a:solidFill>
                  <a:srgbClr val="607480"/>
                </a:solidFill>
              </a:defRPr>
            </a:lvl5pPr>
            <a:lvl6pPr>
              <a:defRPr sz="975" b="0">
                <a:solidFill>
                  <a:srgbClr val="607480"/>
                </a:solidFill>
              </a:defRPr>
            </a:lvl6pPr>
            <a:lvl7pPr>
              <a:defRPr sz="975" b="0">
                <a:solidFill>
                  <a:srgbClr val="607480"/>
                </a:solidFill>
              </a:defRPr>
            </a:lvl7pPr>
            <a:lvl8pPr>
              <a:defRPr sz="975" b="0">
                <a:solidFill>
                  <a:srgbClr val="607480"/>
                </a:solidFill>
              </a:defRPr>
            </a:lvl8pPr>
            <a:lvl9pPr>
              <a:defRPr sz="975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480"/>
                </a:solidFill>
              </a:defRPr>
            </a:pPr>
            <a:r>
              <a:rPr sz="975" b="0">
                <a:solidFill>
                  <a:srgbClr val="607480"/>
                </a:solidFill>
              </a:rPr>
              <a:t>PES University  |  Machine Learning Mini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E4748-A24B-4F26-BF04-1E1E96F5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Reason for the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D8743-0423-44A2-8C9F-131B73F2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42A3B"/>
                </a:solidFill>
              </a:defRPr>
            </a:defPPr>
            <a:lvl1pPr>
              <a:defRPr sz="1800" b="0">
                <a:solidFill>
                  <a:srgbClr val="142A3B"/>
                </a:solidFill>
              </a:defRPr>
            </a:lvl1pPr>
            <a:lvl2pPr>
              <a:defRPr sz="1800" b="0">
                <a:solidFill>
                  <a:srgbClr val="142A3B"/>
                </a:solidFill>
              </a:defRPr>
            </a:lvl2pPr>
            <a:lvl3pPr>
              <a:defRPr sz="1800" b="0">
                <a:solidFill>
                  <a:srgbClr val="142A3B"/>
                </a:solidFill>
              </a:defRPr>
            </a:lvl3pPr>
            <a:lvl4pPr>
              <a:defRPr sz="1800" b="0">
                <a:solidFill>
                  <a:srgbClr val="142A3B"/>
                </a:solidFill>
              </a:defRPr>
            </a:lvl4pPr>
            <a:lvl5pPr>
              <a:defRPr sz="1800" b="0">
                <a:solidFill>
                  <a:srgbClr val="142A3B"/>
                </a:solidFill>
              </a:defRPr>
            </a:lvl5pPr>
            <a:lvl6pPr>
              <a:defRPr sz="1800" b="0">
                <a:solidFill>
                  <a:srgbClr val="142A3B"/>
                </a:solidFill>
              </a:defRPr>
            </a:lvl6pPr>
            <a:lvl7pPr>
              <a:defRPr sz="1800" b="0">
                <a:solidFill>
                  <a:srgbClr val="142A3B"/>
                </a:solidFill>
              </a:defRPr>
            </a:lvl7pPr>
            <a:lvl8pPr>
              <a:defRPr sz="1800" b="0">
                <a:solidFill>
                  <a:srgbClr val="142A3B"/>
                </a:solidFill>
              </a:defRPr>
            </a:lvl8pPr>
            <a:lvl9pPr>
              <a:defRPr sz="180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A3B"/>
                </a:solidFill>
              </a:defRPr>
            </a:pPr>
            <a:r>
              <a:rPr sz="1800" b="0">
                <a:solidFill>
                  <a:srgbClr val="142A3B"/>
                </a:solidFill>
              </a:rPr>
              <a:t>Rare attack labels contribute more to the training objective, giving the network a stronger signal for minority classes.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384FA-2D87-41CA-A59C-08BD44D7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Advantages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97102-D0C8-466E-9EEA-9F91CD82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Disadvantages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4F6188-3B78-4251-9B15-9C51F4C4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810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Retains attack-type predictions.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F3F14-D22C-4000-8771-28A59D2E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810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Improves binary attack recall over the baseline.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D28612-CB90-432D-A6FC-2818B65E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810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Higher false-alarm rate on normal traffic.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182F1-D869-4BEA-B406-075FF765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24350"/>
            <a:ext cx="4810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Very large weights for rare examples can make training unstable.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B79EE-68A9-42A9-A7EA-98339F1B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607480"/>
                </a:solidFill>
              </a:defRPr>
            </a:defPPr>
            <a:lvl1pPr>
              <a:defRPr sz="1425" b="0">
                <a:solidFill>
                  <a:srgbClr val="607480"/>
                </a:solidFill>
              </a:defRPr>
            </a:lvl1pPr>
            <a:lvl2pPr>
              <a:defRPr sz="1425" b="0">
                <a:solidFill>
                  <a:srgbClr val="607480"/>
                </a:solidFill>
              </a:defRPr>
            </a:lvl2pPr>
            <a:lvl3pPr>
              <a:defRPr sz="1425" b="0">
                <a:solidFill>
                  <a:srgbClr val="607480"/>
                </a:solidFill>
              </a:defRPr>
            </a:lvl3pPr>
            <a:lvl4pPr>
              <a:defRPr sz="1425" b="0">
                <a:solidFill>
                  <a:srgbClr val="607480"/>
                </a:solidFill>
              </a:defRPr>
            </a:lvl4pPr>
            <a:lvl5pPr>
              <a:defRPr sz="1425" b="0">
                <a:solidFill>
                  <a:srgbClr val="607480"/>
                </a:solidFill>
              </a:defRPr>
            </a:lvl5pPr>
            <a:lvl6pPr>
              <a:defRPr sz="1425" b="0">
                <a:solidFill>
                  <a:srgbClr val="607480"/>
                </a:solidFill>
              </a:defRPr>
            </a:lvl6pPr>
            <a:lvl7pPr>
              <a:defRPr sz="1425" b="0">
                <a:solidFill>
                  <a:srgbClr val="607480"/>
                </a:solidFill>
              </a:defRPr>
            </a:lvl7pPr>
            <a:lvl8pPr>
              <a:defRPr sz="1425" b="0">
                <a:solidFill>
                  <a:srgbClr val="607480"/>
                </a:solidFill>
              </a:defRPr>
            </a:lvl8pPr>
            <a:lvl9pPr>
              <a:defRPr sz="1425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480"/>
                </a:solidFill>
              </a:defRPr>
            </a:pPr>
            <a:r>
              <a:rPr sz="1425" b="0">
                <a:solidFill>
                  <a:srgbClr val="607480"/>
                </a:solidFill>
              </a:rPr>
              <a:t>Unknown attacks still have no positive training examples for the reserved unknown output.</a:t>
            </a:r>
          </a:p>
        </p:txBody>
      </p:sp>
    </p:spTree>
    <p:extLst>
      <p:ext uri="{BB962C8B-B14F-4D97-AF65-F5344CB8AC3E}">
        <p14:creationId xmlns:p14="http://schemas.microsoft.com/office/powerpoint/2010/main" val="10306931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9F4E60-E43B-44FC-B111-EA00DC5B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07F78"/>
                </a:solidFill>
              </a:defRPr>
            </a:defPPr>
            <a:lvl1pPr>
              <a:defRPr sz="1125" b="1">
                <a:solidFill>
                  <a:srgbClr val="007F78"/>
                </a:solidFill>
              </a:defRPr>
            </a:lvl1pPr>
            <a:lvl2pPr>
              <a:defRPr sz="1125" b="1">
                <a:solidFill>
                  <a:srgbClr val="007F78"/>
                </a:solidFill>
              </a:defRPr>
            </a:lvl2pPr>
            <a:lvl3pPr>
              <a:defRPr sz="1125" b="1">
                <a:solidFill>
                  <a:srgbClr val="007F78"/>
                </a:solidFill>
              </a:defRPr>
            </a:lvl3pPr>
            <a:lvl4pPr>
              <a:defRPr sz="1125" b="1">
                <a:solidFill>
                  <a:srgbClr val="007F78"/>
                </a:solidFill>
              </a:defRPr>
            </a:lvl4pPr>
            <a:lvl5pPr>
              <a:defRPr sz="1125" b="1">
                <a:solidFill>
                  <a:srgbClr val="007F78"/>
                </a:solidFill>
              </a:defRPr>
            </a:lvl5pPr>
            <a:lvl6pPr>
              <a:defRPr sz="1125" b="1">
                <a:solidFill>
                  <a:srgbClr val="007F78"/>
                </a:solidFill>
              </a:defRPr>
            </a:lvl6pPr>
            <a:lvl7pPr>
              <a:defRPr sz="1125" b="1">
                <a:solidFill>
                  <a:srgbClr val="007F78"/>
                </a:solidFill>
              </a:defRPr>
            </a:lvl7pPr>
            <a:lvl8pPr>
              <a:defRPr sz="1125" b="1">
                <a:solidFill>
                  <a:srgbClr val="007F78"/>
                </a:solidFill>
              </a:defRPr>
            </a:lvl8pPr>
            <a:lvl9pPr>
              <a:defRPr sz="11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</a:defRPr>
            </a:pPr>
            <a:r>
              <a:rPr sz="1125" b="1">
                <a:solidFill>
                  <a:srgbClr val="007F78"/>
                </a:solidFill>
              </a:rPr>
              <a:t>06 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F22F3D-E8A9-40F9-B8E9-3BA7183B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42A3B"/>
                </a:solidFill>
              </a:defRPr>
            </a:defPPr>
            <a:lvl1pPr>
              <a:defRPr sz="2850" b="1">
                <a:solidFill>
                  <a:srgbClr val="142A3B"/>
                </a:solidFill>
              </a:defRPr>
            </a:lvl1pPr>
            <a:lvl2pPr>
              <a:defRPr sz="2850" b="1">
                <a:solidFill>
                  <a:srgbClr val="142A3B"/>
                </a:solidFill>
              </a:defRPr>
            </a:lvl2pPr>
            <a:lvl3pPr>
              <a:defRPr sz="2850" b="1">
                <a:solidFill>
                  <a:srgbClr val="142A3B"/>
                </a:solidFill>
              </a:defRPr>
            </a:lvl3pPr>
            <a:lvl4pPr>
              <a:defRPr sz="2850" b="1">
                <a:solidFill>
                  <a:srgbClr val="142A3B"/>
                </a:solidFill>
              </a:defRPr>
            </a:lvl4pPr>
            <a:lvl5pPr>
              <a:defRPr sz="2850" b="1">
                <a:solidFill>
                  <a:srgbClr val="142A3B"/>
                </a:solidFill>
              </a:defRPr>
            </a:lvl5pPr>
            <a:lvl6pPr>
              <a:defRPr sz="2850" b="1">
                <a:solidFill>
                  <a:srgbClr val="142A3B"/>
                </a:solidFill>
              </a:defRPr>
            </a:lvl6pPr>
            <a:lvl7pPr>
              <a:defRPr sz="2850" b="1">
                <a:solidFill>
                  <a:srgbClr val="142A3B"/>
                </a:solidFill>
              </a:defRPr>
            </a:lvl7pPr>
            <a:lvl8pPr>
              <a:defRPr sz="2850" b="1">
                <a:solidFill>
                  <a:srgbClr val="142A3B"/>
                </a:solidFill>
              </a:defRPr>
            </a:lvl8pPr>
            <a:lvl9pPr>
              <a:defRPr sz="2850" b="1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A3B"/>
                </a:solidFill>
              </a:defRPr>
            </a:pPr>
            <a:r>
              <a:rPr sz="2850" b="1">
                <a:solidFill>
                  <a:srgbClr val="142A3B"/>
                </a:solidFill>
              </a:rPr>
              <a:t>Why we tried gradient boosting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0C93C-3606-48C4-883A-AEEEC72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07480"/>
                </a:solidFill>
              </a:defRPr>
            </a:defPPr>
            <a:lvl1pPr>
              <a:defRPr sz="975" b="0">
                <a:solidFill>
                  <a:srgbClr val="607480"/>
                </a:solidFill>
              </a:defRPr>
            </a:lvl1pPr>
            <a:lvl2pPr>
              <a:defRPr sz="975" b="0">
                <a:solidFill>
                  <a:srgbClr val="607480"/>
                </a:solidFill>
              </a:defRPr>
            </a:lvl2pPr>
            <a:lvl3pPr>
              <a:defRPr sz="975" b="0">
                <a:solidFill>
                  <a:srgbClr val="607480"/>
                </a:solidFill>
              </a:defRPr>
            </a:lvl3pPr>
            <a:lvl4pPr>
              <a:defRPr sz="975" b="0">
                <a:solidFill>
                  <a:srgbClr val="607480"/>
                </a:solidFill>
              </a:defRPr>
            </a:lvl4pPr>
            <a:lvl5pPr>
              <a:defRPr sz="975" b="0">
                <a:solidFill>
                  <a:srgbClr val="607480"/>
                </a:solidFill>
              </a:defRPr>
            </a:lvl5pPr>
            <a:lvl6pPr>
              <a:defRPr sz="975" b="0">
                <a:solidFill>
                  <a:srgbClr val="607480"/>
                </a:solidFill>
              </a:defRPr>
            </a:lvl6pPr>
            <a:lvl7pPr>
              <a:defRPr sz="975" b="0">
                <a:solidFill>
                  <a:srgbClr val="607480"/>
                </a:solidFill>
              </a:defRPr>
            </a:lvl7pPr>
            <a:lvl8pPr>
              <a:defRPr sz="975" b="0">
                <a:solidFill>
                  <a:srgbClr val="607480"/>
                </a:solidFill>
              </a:defRPr>
            </a:lvl8pPr>
            <a:lvl9pPr>
              <a:defRPr sz="975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480"/>
                </a:solidFill>
              </a:defRPr>
            </a:pPr>
            <a:r>
              <a:rPr sz="975" b="0">
                <a:solidFill>
                  <a:srgbClr val="607480"/>
                </a:solidFill>
              </a:rPr>
              <a:t>PES University  |  Machine Learning Mini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3C058-C57C-494A-A4B7-839B06FA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Reason for the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9814E-DEAB-446B-8878-0F0C7E4C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42A3B"/>
                </a:solidFill>
              </a:defRPr>
            </a:defPPr>
            <a:lvl1pPr>
              <a:defRPr sz="1800" b="0">
                <a:solidFill>
                  <a:srgbClr val="142A3B"/>
                </a:solidFill>
              </a:defRPr>
            </a:lvl1pPr>
            <a:lvl2pPr>
              <a:defRPr sz="1800" b="0">
                <a:solidFill>
                  <a:srgbClr val="142A3B"/>
                </a:solidFill>
              </a:defRPr>
            </a:lvl2pPr>
            <a:lvl3pPr>
              <a:defRPr sz="1800" b="0">
                <a:solidFill>
                  <a:srgbClr val="142A3B"/>
                </a:solidFill>
              </a:defRPr>
            </a:lvl3pPr>
            <a:lvl4pPr>
              <a:defRPr sz="1800" b="0">
                <a:solidFill>
                  <a:srgbClr val="142A3B"/>
                </a:solidFill>
              </a:defRPr>
            </a:lvl4pPr>
            <a:lvl5pPr>
              <a:defRPr sz="1800" b="0">
                <a:solidFill>
                  <a:srgbClr val="142A3B"/>
                </a:solidFill>
              </a:defRPr>
            </a:lvl5pPr>
            <a:lvl6pPr>
              <a:defRPr sz="1800" b="0">
                <a:solidFill>
                  <a:srgbClr val="142A3B"/>
                </a:solidFill>
              </a:defRPr>
            </a:lvl6pPr>
            <a:lvl7pPr>
              <a:defRPr sz="1800" b="0">
                <a:solidFill>
                  <a:srgbClr val="142A3B"/>
                </a:solidFill>
              </a:defRPr>
            </a:lvl7pPr>
            <a:lvl8pPr>
              <a:defRPr sz="1800" b="0">
                <a:solidFill>
                  <a:srgbClr val="142A3B"/>
                </a:solidFill>
              </a:defRPr>
            </a:lvl8pPr>
            <a:lvl9pPr>
              <a:defRPr sz="180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42A3B"/>
                </a:solidFill>
              </a:defRPr>
            </a:pPr>
            <a:r>
              <a:rPr sz="1800" b="0">
                <a:solidFill>
                  <a:srgbClr val="142A3B"/>
                </a:solidFill>
              </a:rPr>
              <a:t>An ensemble of small decision trees learns nonlinear patterns in tabular network data and gives a binary attack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BD700-51CB-44B0-99FE-3C9DD82E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Advantages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0D009-7194-4AB2-B617-A1BC4362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Disadvantages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C189B-D1CC-44A2-8B77-5D5921A7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481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Better attack recall than both ANN runs.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2589A-6671-4F02-BB2B-1D93109B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81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Threshold can be chosen for an alert budget.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F371A-26F4-40E7-B3E5-CCF836BD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67125"/>
            <a:ext cx="481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Predicts normal or attack only.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39517-0BE5-43E1-9B27-C8D1FE83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4810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Detection remains weak for password guessing and SNMP attacks.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00E73-3AEC-467B-BEE9-A81108A3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007F78"/>
                </a:solidFill>
              </a:defRPr>
            </a:defPPr>
            <a:lvl1pPr>
              <a:defRPr sz="1500" b="1">
                <a:solidFill>
                  <a:srgbClr val="007F78"/>
                </a:solidFill>
              </a:defRPr>
            </a:lvl1pPr>
            <a:lvl2pPr>
              <a:defRPr sz="1500" b="1">
                <a:solidFill>
                  <a:srgbClr val="007F78"/>
                </a:solidFill>
              </a:defRPr>
            </a:lvl2pPr>
            <a:lvl3pPr>
              <a:defRPr sz="1500" b="1">
                <a:solidFill>
                  <a:srgbClr val="007F78"/>
                </a:solidFill>
              </a:defRPr>
            </a:lvl3pPr>
            <a:lvl4pPr>
              <a:defRPr sz="1500" b="1">
                <a:solidFill>
                  <a:srgbClr val="007F78"/>
                </a:solidFill>
              </a:defRPr>
            </a:lvl4pPr>
            <a:lvl5pPr>
              <a:defRPr sz="1500" b="1">
                <a:solidFill>
                  <a:srgbClr val="007F78"/>
                </a:solidFill>
              </a:defRPr>
            </a:lvl5pPr>
            <a:lvl6pPr>
              <a:defRPr sz="1500" b="1">
                <a:solidFill>
                  <a:srgbClr val="007F78"/>
                </a:solidFill>
              </a:defRPr>
            </a:lvl6pPr>
            <a:lvl7pPr>
              <a:defRPr sz="1500" b="1">
                <a:solidFill>
                  <a:srgbClr val="007F78"/>
                </a:solidFill>
              </a:defRPr>
            </a:lvl7pPr>
            <a:lvl8pPr>
              <a:defRPr sz="1500" b="1">
                <a:solidFill>
                  <a:srgbClr val="007F78"/>
                </a:solidFill>
              </a:defRPr>
            </a:lvl8pPr>
            <a:lvl9pPr>
              <a:defRPr sz="1500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F78"/>
                </a:solidFill>
              </a:defRPr>
            </a:pPr>
            <a:r>
              <a:rPr sz="1500" b="1">
                <a:solidFill>
                  <a:srgbClr val="007F78"/>
                </a:solidFill>
              </a:rPr>
              <a:t>The retained project and demo use this group-aware detector.</a:t>
            </a:r>
          </a:p>
        </p:txBody>
      </p:sp>
    </p:spTree>
    <p:extLst>
      <p:ext uri="{BB962C8B-B14F-4D97-AF65-F5344CB8AC3E}">
        <p14:creationId xmlns:p14="http://schemas.microsoft.com/office/powerpoint/2010/main" val="397892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1F9EA-71EC-4173-9AE5-1E76115B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07F78"/>
                </a:solidFill>
              </a:defRPr>
            </a:defPPr>
            <a:lvl1pPr>
              <a:defRPr sz="1125" b="1">
                <a:solidFill>
                  <a:srgbClr val="007F78"/>
                </a:solidFill>
              </a:defRPr>
            </a:lvl1pPr>
            <a:lvl2pPr>
              <a:defRPr sz="1125" b="1">
                <a:solidFill>
                  <a:srgbClr val="007F78"/>
                </a:solidFill>
              </a:defRPr>
            </a:lvl2pPr>
            <a:lvl3pPr>
              <a:defRPr sz="1125" b="1">
                <a:solidFill>
                  <a:srgbClr val="007F78"/>
                </a:solidFill>
              </a:defRPr>
            </a:lvl3pPr>
            <a:lvl4pPr>
              <a:defRPr sz="1125" b="1">
                <a:solidFill>
                  <a:srgbClr val="007F78"/>
                </a:solidFill>
              </a:defRPr>
            </a:lvl4pPr>
            <a:lvl5pPr>
              <a:defRPr sz="1125" b="1">
                <a:solidFill>
                  <a:srgbClr val="007F78"/>
                </a:solidFill>
              </a:defRPr>
            </a:lvl5pPr>
            <a:lvl6pPr>
              <a:defRPr sz="1125" b="1">
                <a:solidFill>
                  <a:srgbClr val="007F78"/>
                </a:solidFill>
              </a:defRPr>
            </a:lvl6pPr>
            <a:lvl7pPr>
              <a:defRPr sz="1125" b="1">
                <a:solidFill>
                  <a:srgbClr val="007F78"/>
                </a:solidFill>
              </a:defRPr>
            </a:lvl7pPr>
            <a:lvl8pPr>
              <a:defRPr sz="1125" b="1">
                <a:solidFill>
                  <a:srgbClr val="007F78"/>
                </a:solidFill>
              </a:defRPr>
            </a:lvl8pPr>
            <a:lvl9pPr>
              <a:defRPr sz="11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</a:defRPr>
            </a:pPr>
            <a:r>
              <a:rPr sz="1125" b="1">
                <a:solidFill>
                  <a:srgbClr val="007F78"/>
                </a:solidFill>
              </a:rPr>
              <a:t>07 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3BB38-9853-4911-B8C5-9772E198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42A3B"/>
                </a:solidFill>
              </a:defRPr>
            </a:defPPr>
            <a:lvl1pPr>
              <a:defRPr sz="2850" b="1">
                <a:solidFill>
                  <a:srgbClr val="142A3B"/>
                </a:solidFill>
              </a:defRPr>
            </a:lvl1pPr>
            <a:lvl2pPr>
              <a:defRPr sz="2850" b="1">
                <a:solidFill>
                  <a:srgbClr val="142A3B"/>
                </a:solidFill>
              </a:defRPr>
            </a:lvl2pPr>
            <a:lvl3pPr>
              <a:defRPr sz="2850" b="1">
                <a:solidFill>
                  <a:srgbClr val="142A3B"/>
                </a:solidFill>
              </a:defRPr>
            </a:lvl3pPr>
            <a:lvl4pPr>
              <a:defRPr sz="2850" b="1">
                <a:solidFill>
                  <a:srgbClr val="142A3B"/>
                </a:solidFill>
              </a:defRPr>
            </a:lvl4pPr>
            <a:lvl5pPr>
              <a:defRPr sz="2850" b="1">
                <a:solidFill>
                  <a:srgbClr val="142A3B"/>
                </a:solidFill>
              </a:defRPr>
            </a:lvl5pPr>
            <a:lvl6pPr>
              <a:defRPr sz="2850" b="1">
                <a:solidFill>
                  <a:srgbClr val="142A3B"/>
                </a:solidFill>
              </a:defRPr>
            </a:lvl6pPr>
            <a:lvl7pPr>
              <a:defRPr sz="2850" b="1">
                <a:solidFill>
                  <a:srgbClr val="142A3B"/>
                </a:solidFill>
              </a:defRPr>
            </a:lvl7pPr>
            <a:lvl8pPr>
              <a:defRPr sz="2850" b="1">
                <a:solidFill>
                  <a:srgbClr val="142A3B"/>
                </a:solidFill>
              </a:defRPr>
            </a:lvl8pPr>
            <a:lvl9pPr>
              <a:defRPr sz="2850" b="1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A3B"/>
                </a:solidFill>
              </a:defRPr>
            </a:pPr>
            <a:r>
              <a:rPr sz="2850" b="1">
                <a:solidFill>
                  <a:srgbClr val="142A3B"/>
                </a:solidFill>
              </a:rPr>
              <a:t>Three-model test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2DE07-B58D-4A00-B8AC-7E2D1DBC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07480"/>
                </a:solidFill>
              </a:defRPr>
            </a:defPPr>
            <a:lvl1pPr>
              <a:defRPr sz="975" b="0">
                <a:solidFill>
                  <a:srgbClr val="607480"/>
                </a:solidFill>
              </a:defRPr>
            </a:lvl1pPr>
            <a:lvl2pPr>
              <a:defRPr sz="975" b="0">
                <a:solidFill>
                  <a:srgbClr val="607480"/>
                </a:solidFill>
              </a:defRPr>
            </a:lvl2pPr>
            <a:lvl3pPr>
              <a:defRPr sz="975" b="0">
                <a:solidFill>
                  <a:srgbClr val="607480"/>
                </a:solidFill>
              </a:defRPr>
            </a:lvl3pPr>
            <a:lvl4pPr>
              <a:defRPr sz="975" b="0">
                <a:solidFill>
                  <a:srgbClr val="607480"/>
                </a:solidFill>
              </a:defRPr>
            </a:lvl4pPr>
            <a:lvl5pPr>
              <a:defRPr sz="975" b="0">
                <a:solidFill>
                  <a:srgbClr val="607480"/>
                </a:solidFill>
              </a:defRPr>
            </a:lvl5pPr>
            <a:lvl6pPr>
              <a:defRPr sz="975" b="0">
                <a:solidFill>
                  <a:srgbClr val="607480"/>
                </a:solidFill>
              </a:defRPr>
            </a:lvl6pPr>
            <a:lvl7pPr>
              <a:defRPr sz="975" b="0">
                <a:solidFill>
                  <a:srgbClr val="607480"/>
                </a:solidFill>
              </a:defRPr>
            </a:lvl7pPr>
            <a:lvl8pPr>
              <a:defRPr sz="975" b="0">
                <a:solidFill>
                  <a:srgbClr val="607480"/>
                </a:solidFill>
              </a:defRPr>
            </a:lvl8pPr>
            <a:lvl9pPr>
              <a:defRPr sz="975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480"/>
                </a:solidFill>
              </a:defRPr>
            </a:pPr>
            <a:r>
              <a:rPr sz="975" b="0">
                <a:solidFill>
                  <a:srgbClr val="607480"/>
                </a:solidFill>
              </a:rPr>
              <a:t>PES University  |  Machine Learning Mini Project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09601-64E0-45D1-B52D-1C4858ED3405}"/>
              </a:ext>
            </a:extLst>
          </p:cNvPr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537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476500"/>
                <a:gridCol w="2476500"/>
                <a:gridCol w="2476500"/>
              </a:tblGrid>
              <a:tr h="539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 marL="91440" marR="91440" marT="45720" marB="45720">
                    <a:solidFill>
                      <a:srgbClr val="10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Baseline ANN</a:t>
                      </a:r>
                    </a:p>
                  </a:txBody>
                  <a:tcPr marL="91440" marR="91440" marT="45720" marB="45720">
                    <a:solidFill>
                      <a:srgbClr val="10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Weighted ANN</a:t>
                      </a:r>
                    </a:p>
                  </a:txBody>
                  <a:tcPr marL="91440" marR="91440" marT="45720" marB="45720">
                    <a:solidFill>
                      <a:srgbClr val="102C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Boosted detector</a:t>
                      </a:r>
                    </a:p>
                  </a:txBody>
                  <a:tcPr marL="91440" marR="91440" marT="45720" marB="45720">
                    <a:solidFill>
                      <a:srgbClr val="102C3C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A3B"/>
                          </a:solidFill>
                        </a:rPr>
                        <a:t>Binary accuracy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71.68%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83.67%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87.56%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A3B"/>
                          </a:solidFill>
                        </a:rPr>
                        <a:t>Attack recall</a:t>
                      </a:r>
                    </a:p>
                  </a:txBody>
                  <a:tcPr marL="91440" marR="91440" marT="45720" marB="45720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55.58%</a:t>
                      </a:r>
                    </a:p>
                  </a:txBody>
                  <a:tcPr marL="91440" marR="91440" marT="45720" marB="45720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82.79%</a:t>
                      </a:r>
                    </a:p>
                  </a:txBody>
                  <a:tcPr marL="91440" marR="91440" marT="45720" marB="45720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85.16%</a:t>
                      </a:r>
                    </a:p>
                  </a:txBody>
                  <a:tcPr marL="91440" marR="91440" marT="45720" marB="45720">
                    <a:solidFill>
                      <a:srgbClr val="EDF5F3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A3B"/>
                          </a:solidFill>
                        </a:rPr>
                        <a:t>False-positive 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7.04%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15.17%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9.27%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A3B"/>
                          </a:solidFill>
                        </a:rPr>
                        <a:t>Exact class accuracy</a:t>
                      </a:r>
                    </a:p>
                  </a:txBody>
                  <a:tcPr marL="91440" marR="91440" marT="45720" marB="45720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68.39%</a:t>
                      </a:r>
                    </a:p>
                  </a:txBody>
                  <a:tcPr marL="91440" marR="91440" marT="45720" marB="45720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68.77%</a:t>
                      </a:r>
                    </a:p>
                  </a:txBody>
                  <a:tcPr marL="91440" marR="91440" marT="45720" marB="45720">
                    <a:solidFill>
                      <a:srgbClr val="EDF5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Not applicable</a:t>
                      </a:r>
                    </a:p>
                  </a:txBody>
                  <a:tcPr marL="91440" marR="91440" marT="45720" marB="45720">
                    <a:solidFill>
                      <a:srgbClr val="EDF5F3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42A3B"/>
                          </a:solidFill>
                        </a:rPr>
                        <a:t>Unseen attacks detected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653 / 3,750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2,312 / 3,750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42A3B"/>
                          </a:solidFill>
                        </a:rPr>
                        <a:t>2,996 / 3,750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9DB921-992E-431F-A110-A527ACCE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607480"/>
                </a:solidFill>
              </a:defRPr>
            </a:defPPr>
            <a:lvl1pPr>
              <a:defRPr sz="1425" b="0">
                <a:solidFill>
                  <a:srgbClr val="607480"/>
                </a:solidFill>
              </a:defRPr>
            </a:lvl1pPr>
            <a:lvl2pPr>
              <a:defRPr sz="1425" b="0">
                <a:solidFill>
                  <a:srgbClr val="607480"/>
                </a:solidFill>
              </a:defRPr>
            </a:lvl2pPr>
            <a:lvl3pPr>
              <a:defRPr sz="1425" b="0">
                <a:solidFill>
                  <a:srgbClr val="607480"/>
                </a:solidFill>
              </a:defRPr>
            </a:lvl3pPr>
            <a:lvl4pPr>
              <a:defRPr sz="1425" b="0">
                <a:solidFill>
                  <a:srgbClr val="607480"/>
                </a:solidFill>
              </a:defRPr>
            </a:lvl4pPr>
            <a:lvl5pPr>
              <a:defRPr sz="1425" b="0">
                <a:solidFill>
                  <a:srgbClr val="607480"/>
                </a:solidFill>
              </a:defRPr>
            </a:lvl5pPr>
            <a:lvl6pPr>
              <a:defRPr sz="1425" b="0">
                <a:solidFill>
                  <a:srgbClr val="607480"/>
                </a:solidFill>
              </a:defRPr>
            </a:lvl6pPr>
            <a:lvl7pPr>
              <a:defRPr sz="1425" b="0">
                <a:solidFill>
                  <a:srgbClr val="607480"/>
                </a:solidFill>
              </a:defRPr>
            </a:lvl7pPr>
            <a:lvl8pPr>
              <a:defRPr sz="1425" b="0">
                <a:solidFill>
                  <a:srgbClr val="607480"/>
                </a:solidFill>
              </a:defRPr>
            </a:lvl8pPr>
            <a:lvl9pPr>
              <a:defRPr sz="1425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07480"/>
                </a:solidFill>
              </a:defRPr>
            </a:pPr>
            <a:r>
              <a:rPr sz="1425" b="0">
                <a:solidFill>
                  <a:srgbClr val="607480"/>
                </a:solidFill>
              </a:rPr>
              <a:t>Binary accuracy and recall use normal versus attack. Exact class accuracy uses attack names.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34C4E-19CC-4B37-BDBC-8602FAE7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07F78"/>
                </a:solidFill>
              </a:defRPr>
            </a:defPPr>
            <a:lvl1pPr>
              <a:defRPr sz="1350" b="1">
                <a:solidFill>
                  <a:srgbClr val="007F78"/>
                </a:solidFill>
              </a:defRPr>
            </a:lvl1pPr>
            <a:lvl2pPr>
              <a:defRPr sz="1350" b="1">
                <a:solidFill>
                  <a:srgbClr val="007F78"/>
                </a:solidFill>
              </a:defRPr>
            </a:lvl2pPr>
            <a:lvl3pPr>
              <a:defRPr sz="1350" b="1">
                <a:solidFill>
                  <a:srgbClr val="007F78"/>
                </a:solidFill>
              </a:defRPr>
            </a:lvl3pPr>
            <a:lvl4pPr>
              <a:defRPr sz="1350" b="1">
                <a:solidFill>
                  <a:srgbClr val="007F78"/>
                </a:solidFill>
              </a:defRPr>
            </a:lvl4pPr>
            <a:lvl5pPr>
              <a:defRPr sz="1350" b="1">
                <a:solidFill>
                  <a:srgbClr val="007F78"/>
                </a:solidFill>
              </a:defRPr>
            </a:lvl5pPr>
            <a:lvl6pPr>
              <a:defRPr sz="1350" b="1">
                <a:solidFill>
                  <a:srgbClr val="007F78"/>
                </a:solidFill>
              </a:defRPr>
            </a:lvl6pPr>
            <a:lvl7pPr>
              <a:defRPr sz="1350" b="1">
                <a:solidFill>
                  <a:srgbClr val="007F78"/>
                </a:solidFill>
              </a:defRPr>
            </a:lvl7pPr>
            <a:lvl8pPr>
              <a:defRPr sz="1350" b="1">
                <a:solidFill>
                  <a:srgbClr val="007F78"/>
                </a:solidFill>
              </a:defRPr>
            </a:lvl8pPr>
            <a:lvl9pPr>
              <a:defRPr sz="1350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F78"/>
                </a:solidFill>
              </a:defRPr>
            </a:pPr>
            <a:r>
              <a:rPr sz="1350" b="1">
                <a:solidFill>
                  <a:srgbClr val="007F78"/>
                </a:solidFill>
              </a:rPr>
              <a:t>Historical ANN runs used full training data; boosted training used a group-aware validation split. Test results are exploratory.</a:t>
            </a:r>
          </a:p>
        </p:txBody>
      </p:sp>
    </p:spTree>
    <p:extLst>
      <p:ext uri="{BB962C8B-B14F-4D97-AF65-F5344CB8AC3E}">
        <p14:creationId xmlns:p14="http://schemas.microsoft.com/office/powerpoint/2010/main" val="14356095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6489F3-FB0C-4EEA-9729-97AB6158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007F78"/>
                </a:solidFill>
              </a:defRPr>
            </a:defPPr>
            <a:lvl1pPr>
              <a:defRPr sz="1125" b="1">
                <a:solidFill>
                  <a:srgbClr val="007F78"/>
                </a:solidFill>
              </a:defRPr>
            </a:lvl1pPr>
            <a:lvl2pPr>
              <a:defRPr sz="1125" b="1">
                <a:solidFill>
                  <a:srgbClr val="007F78"/>
                </a:solidFill>
              </a:defRPr>
            </a:lvl2pPr>
            <a:lvl3pPr>
              <a:defRPr sz="1125" b="1">
                <a:solidFill>
                  <a:srgbClr val="007F78"/>
                </a:solidFill>
              </a:defRPr>
            </a:lvl3pPr>
            <a:lvl4pPr>
              <a:defRPr sz="1125" b="1">
                <a:solidFill>
                  <a:srgbClr val="007F78"/>
                </a:solidFill>
              </a:defRPr>
            </a:lvl4pPr>
            <a:lvl5pPr>
              <a:defRPr sz="1125" b="1">
                <a:solidFill>
                  <a:srgbClr val="007F78"/>
                </a:solidFill>
              </a:defRPr>
            </a:lvl5pPr>
            <a:lvl6pPr>
              <a:defRPr sz="1125" b="1">
                <a:solidFill>
                  <a:srgbClr val="007F78"/>
                </a:solidFill>
              </a:defRPr>
            </a:lvl6pPr>
            <a:lvl7pPr>
              <a:defRPr sz="1125" b="1">
                <a:solidFill>
                  <a:srgbClr val="007F78"/>
                </a:solidFill>
              </a:defRPr>
            </a:lvl7pPr>
            <a:lvl8pPr>
              <a:defRPr sz="1125" b="1">
                <a:solidFill>
                  <a:srgbClr val="007F78"/>
                </a:solidFill>
              </a:defRPr>
            </a:lvl8pPr>
            <a:lvl9pPr>
              <a:defRPr sz="11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</a:defRPr>
            </a:pPr>
            <a:r>
              <a:rPr sz="1125" b="1">
                <a:solidFill>
                  <a:srgbClr val="007F78"/>
                </a:solidFill>
              </a:rPr>
              <a:t>08 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97AF7-4603-45FE-B222-3B071FD6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42A3B"/>
                </a:solidFill>
              </a:defRPr>
            </a:defPPr>
            <a:lvl1pPr>
              <a:defRPr sz="2850" b="1">
                <a:solidFill>
                  <a:srgbClr val="142A3B"/>
                </a:solidFill>
              </a:defRPr>
            </a:lvl1pPr>
            <a:lvl2pPr>
              <a:defRPr sz="2850" b="1">
                <a:solidFill>
                  <a:srgbClr val="142A3B"/>
                </a:solidFill>
              </a:defRPr>
            </a:lvl2pPr>
            <a:lvl3pPr>
              <a:defRPr sz="2850" b="1">
                <a:solidFill>
                  <a:srgbClr val="142A3B"/>
                </a:solidFill>
              </a:defRPr>
            </a:lvl3pPr>
            <a:lvl4pPr>
              <a:defRPr sz="2850" b="1">
                <a:solidFill>
                  <a:srgbClr val="142A3B"/>
                </a:solidFill>
              </a:defRPr>
            </a:lvl4pPr>
            <a:lvl5pPr>
              <a:defRPr sz="2850" b="1">
                <a:solidFill>
                  <a:srgbClr val="142A3B"/>
                </a:solidFill>
              </a:defRPr>
            </a:lvl5pPr>
            <a:lvl6pPr>
              <a:defRPr sz="2850" b="1">
                <a:solidFill>
                  <a:srgbClr val="142A3B"/>
                </a:solidFill>
              </a:defRPr>
            </a:lvl6pPr>
            <a:lvl7pPr>
              <a:defRPr sz="2850" b="1">
                <a:solidFill>
                  <a:srgbClr val="142A3B"/>
                </a:solidFill>
              </a:defRPr>
            </a:lvl7pPr>
            <a:lvl8pPr>
              <a:defRPr sz="2850" b="1">
                <a:solidFill>
                  <a:srgbClr val="142A3B"/>
                </a:solidFill>
              </a:defRPr>
            </a:lvl8pPr>
            <a:lvl9pPr>
              <a:defRPr sz="2850" b="1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42A3B"/>
                </a:solidFill>
              </a:defRPr>
            </a:pPr>
            <a:r>
              <a:rPr sz="2850" b="1">
                <a:solidFill>
                  <a:srgbClr val="142A3B"/>
                </a:solidFill>
              </a:rPr>
              <a:t>Findings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BB4498-395C-4F2F-A083-9C6B76C9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607480"/>
                </a:solidFill>
              </a:defRPr>
            </a:defPPr>
            <a:lvl1pPr>
              <a:defRPr sz="975" b="0">
                <a:solidFill>
                  <a:srgbClr val="607480"/>
                </a:solidFill>
              </a:defRPr>
            </a:lvl1pPr>
            <a:lvl2pPr>
              <a:defRPr sz="975" b="0">
                <a:solidFill>
                  <a:srgbClr val="607480"/>
                </a:solidFill>
              </a:defRPr>
            </a:lvl2pPr>
            <a:lvl3pPr>
              <a:defRPr sz="975" b="0">
                <a:solidFill>
                  <a:srgbClr val="607480"/>
                </a:solidFill>
              </a:defRPr>
            </a:lvl3pPr>
            <a:lvl4pPr>
              <a:defRPr sz="975" b="0">
                <a:solidFill>
                  <a:srgbClr val="607480"/>
                </a:solidFill>
              </a:defRPr>
            </a:lvl4pPr>
            <a:lvl5pPr>
              <a:defRPr sz="975" b="0">
                <a:solidFill>
                  <a:srgbClr val="607480"/>
                </a:solidFill>
              </a:defRPr>
            </a:lvl5pPr>
            <a:lvl6pPr>
              <a:defRPr sz="975" b="0">
                <a:solidFill>
                  <a:srgbClr val="607480"/>
                </a:solidFill>
              </a:defRPr>
            </a:lvl6pPr>
            <a:lvl7pPr>
              <a:defRPr sz="975" b="0">
                <a:solidFill>
                  <a:srgbClr val="607480"/>
                </a:solidFill>
              </a:defRPr>
            </a:lvl7pPr>
            <a:lvl8pPr>
              <a:defRPr sz="975" b="0">
                <a:solidFill>
                  <a:srgbClr val="607480"/>
                </a:solidFill>
              </a:defRPr>
            </a:lvl8pPr>
            <a:lvl9pPr>
              <a:defRPr sz="975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07480"/>
                </a:solidFill>
              </a:defRPr>
            </a:pPr>
            <a:r>
              <a:rPr sz="975" b="0">
                <a:solidFill>
                  <a:srgbClr val="607480"/>
                </a:solidFill>
              </a:rPr>
              <a:t>PES University  |  Machine Learning Mini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1729B-CDE8-46D9-B8E8-7259116D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What the saved run shows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FA9F1-A979-414C-AB27-C02585ED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Boosted detector: 85.16% attack recall and 9.27% false-positive rate.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23CBB-DDBC-4A13-9467-CF69849B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It missed 1,905 of 12,833 attacks in the supplied test 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C678B-CC11-4357-BA4A-BC18CBAB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It detected 2,996 of 3,750 unseen-label records as attacks, without identifying them as unknown.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2EBA7-3F55-4C6A-B80A-DA560C95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07F78"/>
                </a:solidFill>
              </a:defRPr>
            </a:defPPr>
            <a:lvl1pPr>
              <a:defRPr sz="1725" b="1">
                <a:solidFill>
                  <a:srgbClr val="007F78"/>
                </a:solidFill>
              </a:defRPr>
            </a:lvl1pPr>
            <a:lvl2pPr>
              <a:defRPr sz="1725" b="1">
                <a:solidFill>
                  <a:srgbClr val="007F78"/>
                </a:solidFill>
              </a:defRPr>
            </a:lvl2pPr>
            <a:lvl3pPr>
              <a:defRPr sz="1725" b="1">
                <a:solidFill>
                  <a:srgbClr val="007F78"/>
                </a:solidFill>
              </a:defRPr>
            </a:lvl3pPr>
            <a:lvl4pPr>
              <a:defRPr sz="1725" b="1">
                <a:solidFill>
                  <a:srgbClr val="007F78"/>
                </a:solidFill>
              </a:defRPr>
            </a:lvl4pPr>
            <a:lvl5pPr>
              <a:defRPr sz="1725" b="1">
                <a:solidFill>
                  <a:srgbClr val="007F78"/>
                </a:solidFill>
              </a:defRPr>
            </a:lvl5pPr>
            <a:lvl6pPr>
              <a:defRPr sz="1725" b="1">
                <a:solidFill>
                  <a:srgbClr val="007F78"/>
                </a:solidFill>
              </a:defRPr>
            </a:lvl6pPr>
            <a:lvl7pPr>
              <a:defRPr sz="1725" b="1">
                <a:solidFill>
                  <a:srgbClr val="007F78"/>
                </a:solidFill>
              </a:defRPr>
            </a:lvl7pPr>
            <a:lvl8pPr>
              <a:defRPr sz="1725" b="1">
                <a:solidFill>
                  <a:srgbClr val="007F78"/>
                </a:solidFill>
              </a:defRPr>
            </a:lvl8pPr>
            <a:lvl9pPr>
              <a:defRPr sz="1725" b="1">
                <a:solidFill>
                  <a:srgbClr val="007F78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07F78"/>
                </a:solidFill>
              </a:defRPr>
            </a:pPr>
            <a:r>
              <a:rPr sz="1725" b="1">
                <a:solidFill>
                  <a:srgbClr val="007F78"/>
                </a:solidFill>
              </a:rPr>
              <a:t>Limits and next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EDE58-3856-4EDA-A334-AB097439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Test data was previously inspected and 664 test feature vectors also appear in training.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3D6E1-226A-4E53-A249-B3C78F38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42A3B"/>
                </a:solidFill>
              </a:defRPr>
            </a:defPPr>
            <a:lvl1pPr>
              <a:defRPr sz="1650" b="0">
                <a:solidFill>
                  <a:srgbClr val="142A3B"/>
                </a:solidFill>
              </a:defRPr>
            </a:lvl1pPr>
            <a:lvl2pPr>
              <a:defRPr sz="1650" b="0">
                <a:solidFill>
                  <a:srgbClr val="142A3B"/>
                </a:solidFill>
              </a:defRPr>
            </a:lvl2pPr>
            <a:lvl3pPr>
              <a:defRPr sz="1650" b="0">
                <a:solidFill>
                  <a:srgbClr val="142A3B"/>
                </a:solidFill>
              </a:defRPr>
            </a:lvl3pPr>
            <a:lvl4pPr>
              <a:defRPr sz="1650" b="0">
                <a:solidFill>
                  <a:srgbClr val="142A3B"/>
                </a:solidFill>
              </a:defRPr>
            </a:lvl4pPr>
            <a:lvl5pPr>
              <a:defRPr sz="1650" b="0">
                <a:solidFill>
                  <a:srgbClr val="142A3B"/>
                </a:solidFill>
              </a:defRPr>
            </a:lvl5pPr>
            <a:lvl6pPr>
              <a:defRPr sz="1650" b="0">
                <a:solidFill>
                  <a:srgbClr val="142A3B"/>
                </a:solidFill>
              </a:defRPr>
            </a:lvl6pPr>
            <a:lvl7pPr>
              <a:defRPr sz="1650" b="0">
                <a:solidFill>
                  <a:srgbClr val="142A3B"/>
                </a:solidFill>
              </a:defRPr>
            </a:lvl7pPr>
            <a:lvl8pPr>
              <a:defRPr sz="1650" b="0">
                <a:solidFill>
                  <a:srgbClr val="142A3B"/>
                </a:solidFill>
              </a:defRPr>
            </a:lvl8pPr>
            <a:lvl9pPr>
              <a:defRPr sz="1650" b="0">
                <a:solidFill>
                  <a:srgbClr val="142A3B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A3B"/>
                </a:solidFill>
              </a:defRPr>
            </a:pPr>
            <a:r>
              <a:rPr sz="1650" b="0">
                <a:solidFill>
                  <a:srgbClr val="142A3B"/>
                </a:solidFill>
              </a:rPr>
              <a:t>Evaluate on independent modern traffic, improve rare attack detection and measure calibration.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5CCC1-51EF-4C9D-890F-35AE2332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07480"/>
                </a:solidFill>
              </a:defRPr>
            </a:defPPr>
            <a:lvl1pPr>
              <a:defRPr sz="1200" b="0">
                <a:solidFill>
                  <a:srgbClr val="607480"/>
                </a:solidFill>
              </a:defRPr>
            </a:lvl1pPr>
            <a:lvl2pPr>
              <a:defRPr sz="1200" b="0">
                <a:solidFill>
                  <a:srgbClr val="607480"/>
                </a:solidFill>
              </a:defRPr>
            </a:lvl2pPr>
            <a:lvl3pPr>
              <a:defRPr sz="1200" b="0">
                <a:solidFill>
                  <a:srgbClr val="607480"/>
                </a:solidFill>
              </a:defRPr>
            </a:lvl3pPr>
            <a:lvl4pPr>
              <a:defRPr sz="1200" b="0">
                <a:solidFill>
                  <a:srgbClr val="607480"/>
                </a:solidFill>
              </a:defRPr>
            </a:lvl4pPr>
            <a:lvl5pPr>
              <a:defRPr sz="1200" b="0">
                <a:solidFill>
                  <a:srgbClr val="607480"/>
                </a:solidFill>
              </a:defRPr>
            </a:lvl5pPr>
            <a:lvl6pPr>
              <a:defRPr sz="1200" b="0">
                <a:solidFill>
                  <a:srgbClr val="607480"/>
                </a:solidFill>
              </a:defRPr>
            </a:lvl6pPr>
            <a:lvl7pPr>
              <a:defRPr sz="1200" b="0">
                <a:solidFill>
                  <a:srgbClr val="607480"/>
                </a:solidFill>
              </a:defRPr>
            </a:lvl7pPr>
            <a:lvl8pPr>
              <a:defRPr sz="1200" b="0">
                <a:solidFill>
                  <a:srgbClr val="607480"/>
                </a:solidFill>
              </a:defRPr>
            </a:lvl8pPr>
            <a:lvl9pPr>
              <a:defRPr sz="1200" b="0">
                <a:solidFill>
                  <a:srgbClr val="607480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07480"/>
                </a:solidFill>
              </a:defRPr>
            </a:pPr>
            <a:r>
              <a:rPr sz="1200" b="0">
                <a:solidFill>
                  <a:srgbClr val="607480"/>
                </a:solidFill>
              </a:rPr>
              <a:t>Reference: supplied paper “Using Neural Network for Security Attacks Detection”; project results and saved evaluation reports.</a:t>
            </a:r>
          </a:p>
        </p:txBody>
      </p:sp>
    </p:spTree>
    <p:extLst>
      <p:ext uri="{BB962C8B-B14F-4D97-AF65-F5344CB8AC3E}">
        <p14:creationId xmlns:p14="http://schemas.microsoft.com/office/powerpoint/2010/main" val="6103134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2026-10-28T08:09:27.3500000Z</dcterms:created>
  <dcterms:modified xsi:type="dcterms:W3CDTF">2026-10-28T08:09:27.3500000Z</dcterms:modified>
</coreProperties>
</file>